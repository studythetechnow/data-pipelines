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65"/>
    <a:srgbClr val="FDB291"/>
    <a:srgbClr val="93E3FF"/>
    <a:srgbClr val="FB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73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Data Engineering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331720" cy="3703320"/>
          </a:xfrm>
          <a:prstGeom prst="roundRect">
            <a:avLst>
              <a:gd name="adj" fmla="val 4706"/>
            </a:avLst>
          </a:prstGeom>
          <a:noFill/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912" y="1024128"/>
            <a:ext cx="1463040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024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EDM Snowflake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CSV/Excel Files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Aiviq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OneSDM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914400"/>
            <a:ext cx="3108960" cy="5577840"/>
          </a:xfrm>
          <a:prstGeom prst="roundRect">
            <a:avLst>
              <a:gd name="adj" fmla="val 3529"/>
            </a:avLst>
          </a:prstGeom>
          <a:noFill/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44952" y="1024128"/>
            <a:ext cx="1463040" cy="292608"/>
          </a:xfrm>
          <a:prstGeom prst="roundRect">
            <a:avLst>
              <a:gd name="adj" fmla="val 1875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44952" y="1024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Data Pipeline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47938" y="1513798"/>
            <a:ext cx="1469517" cy="452162"/>
          </a:xfrm>
          <a:prstGeom prst="hexagon">
            <a:avLst/>
          </a:prstGeom>
          <a:solidFill>
            <a:srgbClr val="FFF3C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9338" y="1376362"/>
            <a:ext cx="1856232" cy="640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ea typeface="Calibri" pitchFamily="34" charset="-122"/>
                <a:cs typeface="Calibri" pitchFamily="34" charset="-120"/>
              </a:rPr>
              <a:t>SODA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3874" y="2257858"/>
            <a:ext cx="1604772" cy="774466"/>
          </a:xfrm>
          <a:prstGeom prst="can">
            <a:avLst/>
          </a:prstGeom>
          <a:solidFill>
            <a:srgbClr val="DEEBFB"/>
          </a:solidFill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655314" y="244162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8A"/>
                </a:solidFill>
                <a:ea typeface="Calibri" pitchFamily="34" charset="-122"/>
                <a:cs typeface="Calibri" pitchFamily="34" charset="-120"/>
              </a:rPr>
              <a:t>RAW Schema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5314" y="27935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(As-is data)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3874" y="3266690"/>
            <a:ext cx="1581912" cy="791871"/>
          </a:xfrm>
          <a:prstGeom prst="can">
            <a:avLst/>
          </a:prstGeom>
          <a:solidFill>
            <a:srgbClr val="DEEBFB"/>
          </a:solidFill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3655314" y="3544668"/>
            <a:ext cx="1406144" cy="250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8A"/>
                </a:solidFill>
                <a:ea typeface="Calibri" pitchFamily="34" charset="-122"/>
                <a:cs typeface="Calibri" pitchFamily="34" charset="-120"/>
              </a:rPr>
              <a:t>STAGING Schema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5314" y="3818988"/>
            <a:ext cx="1406144" cy="208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(Data type conversion)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41014" y="4321537"/>
            <a:ext cx="1716786" cy="447349"/>
          </a:xfrm>
          <a:prstGeom prst="hexagon">
            <a:avLst/>
          </a:prstGeom>
          <a:solidFill>
            <a:srgbClr val="FFDA65"/>
          </a:solidFill>
          <a:ln w="158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460222" y="4250207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2D12"/>
                </a:solidFill>
                <a:ea typeface="Calibri" pitchFamily="34" charset="-122"/>
                <a:cs typeface="Calibri" pitchFamily="34" charset="-120"/>
              </a:rPr>
              <a:t>DBT Transformations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89020" y="5056632"/>
            <a:ext cx="1579626" cy="612648"/>
          </a:xfrm>
          <a:prstGeom prst="can">
            <a:avLst/>
          </a:prstGeom>
          <a:solidFill>
            <a:srgbClr val="D6F1DF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703320" y="5293013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4E3B"/>
                </a:solidFill>
                <a:ea typeface="Calibri" pitchFamily="34" charset="-122"/>
                <a:cs typeface="Calibri" pitchFamily="34" charset="-120"/>
              </a:rPr>
              <a:t>CORE Schema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78146" y="5905195"/>
            <a:ext cx="1645920" cy="478480"/>
          </a:xfrm>
          <a:prstGeom prst="can">
            <a:avLst/>
          </a:prstGeom>
          <a:solidFill>
            <a:srgbClr val="D6F1DF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643884" y="5971757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4E3B"/>
                </a:solidFill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2305" y="1981870"/>
            <a:ext cx="0" cy="248383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373161" y="3049612"/>
            <a:ext cx="9144" cy="20116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366260" y="4092937"/>
            <a:ext cx="9144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900"/>
          </a:p>
        </p:txBody>
      </p:sp>
      <p:sp>
        <p:nvSpPr>
          <p:cNvPr id="36" name="Shape 34"/>
          <p:cNvSpPr/>
          <p:nvPr/>
        </p:nvSpPr>
        <p:spPr>
          <a:xfrm flipH="1">
            <a:off x="4343442" y="4800600"/>
            <a:ext cx="0" cy="229282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366260" y="5654443"/>
            <a:ext cx="0" cy="24688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6263640" y="914400"/>
            <a:ext cx="3657600" cy="3246120"/>
          </a:xfrm>
          <a:prstGeom prst="roundRect">
            <a:avLst>
              <a:gd name="adj" fmla="val 3380"/>
            </a:avLst>
          </a:prstGeom>
          <a:noFill/>
          <a:ln w="15875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28232" y="102412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E3FF"/>
          </a:solidFill>
          <a:ln w="9525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28232" y="1024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4630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240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▽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12280" y="1463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Elimination Engine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14630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75320" y="1463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⇄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95360" y="1463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Override Engine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21488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92240" y="21488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12280" y="2148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Bulk Update Engine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83880" y="21488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75320" y="21488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💬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595360" y="21488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Feedback Process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0" y="28346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9224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⟳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81228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RRR Service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83880" y="28346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7532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📷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59536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Snapshot Engine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3520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40880" y="3520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🕒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315200" y="34930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Tidal Scheduler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3730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(triggers microservices)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V="1">
            <a:off x="7223760" y="3337560"/>
            <a:ext cx="9144" cy="1828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 flipV="1">
            <a:off x="9006840" y="3337560"/>
            <a:ext cx="9144" cy="1828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058400" y="914400"/>
            <a:ext cx="1874520" cy="5577840"/>
          </a:xfrm>
          <a:prstGeom prst="roundRect">
            <a:avLst>
              <a:gd name="adj" fmla="val 5854"/>
            </a:avLst>
          </a:prstGeom>
          <a:noFill/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222992" y="102412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222992" y="1024128"/>
            <a:ext cx="1463040" cy="2926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Reporting Layer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Text 71"/>
          <p:cNvSpPr/>
          <p:nvPr/>
        </p:nvSpPr>
        <p:spPr>
          <a:xfrm>
            <a:off x="10058400" y="1417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100584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Business Users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05840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▦</a:t>
            </a:r>
            <a:endParaRPr lang="en-US" sz="2600" dirty="0"/>
          </a:p>
        </p:txBody>
      </p:sp>
      <p:sp>
        <p:nvSpPr>
          <p:cNvPr id="76" name="Text 74"/>
          <p:cNvSpPr/>
          <p:nvPr/>
        </p:nvSpPr>
        <p:spPr>
          <a:xfrm>
            <a:off x="1005840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0058400" y="4297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78" name="Text 76"/>
          <p:cNvSpPr/>
          <p:nvPr/>
        </p:nvSpPr>
        <p:spPr>
          <a:xfrm>
            <a:off x="1005840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74320" y="4800600"/>
            <a:ext cx="2331720" cy="1691640"/>
          </a:xfrm>
          <a:prstGeom prst="roundRect">
            <a:avLst>
              <a:gd name="adj" fmla="val 6486"/>
            </a:avLst>
          </a:prstGeom>
          <a:noFill/>
          <a:ln w="31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81" name="Shape 79"/>
          <p:cNvSpPr/>
          <p:nvPr/>
        </p:nvSpPr>
        <p:spPr>
          <a:xfrm>
            <a:off x="344856" y="4892040"/>
            <a:ext cx="1772022" cy="230498"/>
          </a:xfrm>
          <a:prstGeom prst="roundRect">
            <a:avLst>
              <a:gd name="adj" fmla="val 18750"/>
            </a:avLst>
          </a:prstGeom>
          <a:solidFill>
            <a:srgbClr val="FDB291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99136" y="4842007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Monitoring &amp; Operations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19738" y="5202160"/>
            <a:ext cx="1797682" cy="411480"/>
          </a:xfrm>
          <a:prstGeom prst="can">
            <a:avLst/>
          </a:prstGeom>
          <a:noFill/>
          <a:ln w="31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84" name="Text 82"/>
          <p:cNvSpPr/>
          <p:nvPr/>
        </p:nvSpPr>
        <p:spPr>
          <a:xfrm>
            <a:off x="594360" y="5402275"/>
            <a:ext cx="1691640" cy="189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1337"/>
                </a:solidFill>
                <a:ea typeface="Calibri" pitchFamily="34" charset="-122"/>
                <a:cs typeface="Calibri" pitchFamily="34" charset="-120"/>
              </a:rPr>
              <a:t>Error Table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548640" y="5610195"/>
            <a:ext cx="1691640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(Cross-schema error log)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4340" y="5842498"/>
            <a:ext cx="1783080" cy="502920"/>
          </a:xfrm>
          <a:prstGeom prst="can">
            <a:avLst/>
          </a:prstGeom>
          <a:noFill/>
          <a:ln w="31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87" name="Text 85"/>
          <p:cNvSpPr/>
          <p:nvPr/>
        </p:nvSpPr>
        <p:spPr>
          <a:xfrm>
            <a:off x="559514" y="6018763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1337"/>
                </a:solidFill>
                <a:ea typeface="Calibri" pitchFamily="34" charset="-122"/>
                <a:cs typeface="Calibri" pitchFamily="34" charset="-120"/>
              </a:rPr>
              <a:t>Batch &amp; Batch Log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34340" y="6302873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(Run details)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63640" y="4434840"/>
            <a:ext cx="3657600" cy="2057400"/>
          </a:xfrm>
          <a:prstGeom prst="roundRect">
            <a:avLst>
              <a:gd name="adj" fmla="val 5333"/>
            </a:avLst>
          </a:prstGeom>
          <a:noFill/>
          <a:ln w="1587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428232" y="45445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2D05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428232" y="4544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Text 92"/>
          <p:cNvSpPr/>
          <p:nvPr/>
        </p:nvSpPr>
        <p:spPr>
          <a:xfrm>
            <a:off x="6492240" y="4892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⚛</a:t>
            </a:r>
            <a:endParaRPr lang="en-US" sz="3200" dirty="0"/>
          </a:p>
        </p:txBody>
      </p:sp>
      <p:sp>
        <p:nvSpPr>
          <p:cNvPr id="95" name="Text 93"/>
          <p:cNvSpPr/>
          <p:nvPr/>
        </p:nvSpPr>
        <p:spPr>
          <a:xfrm>
            <a:off x="6492240" y="5715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React UI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7726680" y="4892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97" name="Text 95"/>
          <p:cNvSpPr/>
          <p:nvPr/>
        </p:nvSpPr>
        <p:spPr>
          <a:xfrm>
            <a:off x="7726680" y="5715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8961120" y="4892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⚙</a:t>
            </a:r>
            <a:endParaRPr lang="en-US" sz="3200" dirty="0"/>
          </a:p>
        </p:txBody>
      </p:sp>
      <p:sp>
        <p:nvSpPr>
          <p:cNvPr id="99" name="Text 97"/>
          <p:cNvSpPr/>
          <p:nvPr/>
        </p:nvSpPr>
        <p:spPr>
          <a:xfrm>
            <a:off x="8961120" y="5715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OpenShift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7406640" y="5285232"/>
            <a:ext cx="320040" cy="9144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41080" y="5285232"/>
            <a:ext cx="320040" cy="9144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7BF2E8BF-5812-F274-4770-5A536C1DC67D}"/>
              </a:ext>
            </a:extLst>
          </p:cNvPr>
          <p:cNvCxnSpPr>
            <a:stCxn id="16" idx="1"/>
            <a:endCxn id="80" idx="3"/>
          </p:cNvCxnSpPr>
          <p:nvPr/>
        </p:nvCxnSpPr>
        <p:spPr>
          <a:xfrm rot="10800000" flipV="1">
            <a:off x="2606040" y="3703320"/>
            <a:ext cx="274320" cy="1943100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2D1D86BF-7B9C-0D1E-7425-D1341D2061C4}"/>
              </a:ext>
            </a:extLst>
          </p:cNvPr>
          <p:cNvCxnSpPr>
            <a:cxnSpLocks/>
            <a:stCxn id="3" idx="3"/>
            <a:endCxn id="19" idx="3"/>
          </p:cNvCxnSpPr>
          <p:nvPr/>
        </p:nvCxnSpPr>
        <p:spPr>
          <a:xfrm flipV="1">
            <a:off x="2606040" y="1739879"/>
            <a:ext cx="1041898" cy="1026181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21BB7B4-C33E-9639-4908-50CF6C5A7BC5}"/>
              </a:ext>
            </a:extLst>
          </p:cNvPr>
          <p:cNvCxnSpPr>
            <a:stCxn id="29" idx="4"/>
            <a:endCxn id="39" idx="1"/>
          </p:cNvCxnSpPr>
          <p:nvPr/>
        </p:nvCxnSpPr>
        <p:spPr>
          <a:xfrm flipV="1">
            <a:off x="5168646" y="2537460"/>
            <a:ext cx="1094994" cy="2825496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01525A5C-F420-440F-E1DA-4242CF417A17}"/>
              </a:ext>
            </a:extLst>
          </p:cNvPr>
          <p:cNvCxnSpPr>
            <a:stCxn id="30" idx="3"/>
          </p:cNvCxnSpPr>
          <p:nvPr/>
        </p:nvCxnSpPr>
        <p:spPr>
          <a:xfrm>
            <a:off x="5166360" y="5430173"/>
            <a:ext cx="1097280" cy="2848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A0DC884C-87A5-D92A-D7B1-DD149BEF8764}"/>
              </a:ext>
            </a:extLst>
          </p:cNvPr>
          <p:cNvCxnSpPr>
            <a:cxnSpLocks/>
            <a:stCxn id="31" idx="3"/>
            <a:endCxn id="70" idx="3"/>
          </p:cNvCxnSpPr>
          <p:nvPr/>
        </p:nvCxnSpPr>
        <p:spPr>
          <a:xfrm rot="5400000" flipH="1" flipV="1">
            <a:off x="6826835" y="1277591"/>
            <a:ext cx="2680355" cy="7531814"/>
          </a:xfrm>
          <a:prstGeom prst="bentConnector4">
            <a:avLst>
              <a:gd name="adj1" fmla="val -12579"/>
              <a:gd name="adj2" fmla="val 1030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Mandhala</cp:lastModifiedBy>
  <cp:revision>3</cp:revision>
  <dcterms:created xsi:type="dcterms:W3CDTF">2026-06-02T15:06:09Z</dcterms:created>
  <dcterms:modified xsi:type="dcterms:W3CDTF">2026-06-02T15:59:08Z</dcterms:modified>
</cp:coreProperties>
</file>