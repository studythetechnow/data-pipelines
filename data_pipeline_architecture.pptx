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2189A-7920-49D2-BD75-67C6BC3D30D8}" v="4" dt="2026-04-29T05:07:21.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54"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Mandhala" userId="e549e904d7c1eba4" providerId="LiveId" clId="{2893CB0D-0EA7-43DA-A882-A491C8DA0056}"/>
    <pc:docChg chg="undo redo custSel addSld delSld modSld">
      <pc:chgData name="Sai Mandhala" userId="e549e904d7c1eba4" providerId="LiveId" clId="{2893CB0D-0EA7-43DA-A882-A491C8DA0056}" dt="2026-04-29T05:07:30.712" v="254" actId="2696"/>
      <pc:docMkLst>
        <pc:docMk/>
      </pc:docMkLst>
      <pc:sldChg chg="addSp delSp modSp mod">
        <pc:chgData name="Sai Mandhala" userId="e549e904d7c1eba4" providerId="LiveId" clId="{2893CB0D-0EA7-43DA-A882-A491C8DA0056}" dt="2026-04-29T05:07:21.291" v="253"/>
        <pc:sldMkLst>
          <pc:docMk/>
          <pc:sldMk cId="0" sldId="257"/>
        </pc:sldMkLst>
        <pc:spChg chg="mod">
          <ac:chgData name="Sai Mandhala" userId="e549e904d7c1eba4" providerId="LiveId" clId="{2893CB0D-0EA7-43DA-A882-A491C8DA0056}" dt="2026-04-29T05:05:30.457" v="190" actId="1035"/>
          <ac:spMkLst>
            <pc:docMk/>
            <pc:sldMk cId="0" sldId="257"/>
            <ac:spMk id="7" creationId="{00000000-0000-0000-0000-000000000000}"/>
          </ac:spMkLst>
        </pc:spChg>
        <pc:spChg chg="mod">
          <ac:chgData name="Sai Mandhala" userId="e549e904d7c1eba4" providerId="LiveId" clId="{2893CB0D-0EA7-43DA-A882-A491C8DA0056}" dt="2026-04-29T05:05:30.457" v="190" actId="1035"/>
          <ac:spMkLst>
            <pc:docMk/>
            <pc:sldMk cId="0" sldId="257"/>
            <ac:spMk id="13" creationId="{00000000-0000-0000-0000-000000000000}"/>
          </ac:spMkLst>
        </pc:spChg>
        <pc:spChg chg="mod">
          <ac:chgData name="Sai Mandhala" userId="e549e904d7c1eba4" providerId="LiveId" clId="{2893CB0D-0EA7-43DA-A882-A491C8DA0056}" dt="2026-04-29T05:05:30.457" v="190" actId="1035"/>
          <ac:spMkLst>
            <pc:docMk/>
            <pc:sldMk cId="0" sldId="257"/>
            <ac:spMk id="15" creationId="{00000000-0000-0000-0000-000000000000}"/>
          </ac:spMkLst>
        </pc:spChg>
        <pc:spChg chg="mod">
          <ac:chgData name="Sai Mandhala" userId="e549e904d7c1eba4" providerId="LiveId" clId="{2893CB0D-0EA7-43DA-A882-A491C8DA0056}" dt="2026-04-29T05:05:30.457" v="190" actId="1035"/>
          <ac:spMkLst>
            <pc:docMk/>
            <pc:sldMk cId="0" sldId="257"/>
            <ac:spMk id="19" creationId="{00000000-0000-0000-0000-000000000000}"/>
          </ac:spMkLst>
        </pc:spChg>
        <pc:spChg chg="mod">
          <ac:chgData name="Sai Mandhala" userId="e549e904d7c1eba4" providerId="LiveId" clId="{2893CB0D-0EA7-43DA-A882-A491C8DA0056}" dt="2026-04-29T05:05:30.457" v="190" actId="1035"/>
          <ac:spMkLst>
            <pc:docMk/>
            <pc:sldMk cId="0" sldId="257"/>
            <ac:spMk id="22" creationId="{00000000-0000-0000-0000-000000000000}"/>
          </ac:spMkLst>
        </pc:spChg>
        <pc:spChg chg="mod">
          <ac:chgData name="Sai Mandhala" userId="e549e904d7c1eba4" providerId="LiveId" clId="{2893CB0D-0EA7-43DA-A882-A491C8DA0056}" dt="2026-04-29T05:05:30.457" v="190" actId="1035"/>
          <ac:spMkLst>
            <pc:docMk/>
            <pc:sldMk cId="0" sldId="257"/>
            <ac:spMk id="23" creationId="{00000000-0000-0000-0000-000000000000}"/>
          </ac:spMkLst>
        </pc:spChg>
        <pc:spChg chg="mod">
          <ac:chgData name="Sai Mandhala" userId="e549e904d7c1eba4" providerId="LiveId" clId="{2893CB0D-0EA7-43DA-A882-A491C8DA0056}" dt="2026-04-29T05:05:30.457" v="190" actId="1035"/>
          <ac:spMkLst>
            <pc:docMk/>
            <pc:sldMk cId="0" sldId="257"/>
            <ac:spMk id="27" creationId="{00000000-0000-0000-0000-000000000000}"/>
          </ac:spMkLst>
        </pc:spChg>
        <pc:spChg chg="mod">
          <ac:chgData name="Sai Mandhala" userId="e549e904d7c1eba4" providerId="LiveId" clId="{2893CB0D-0EA7-43DA-A882-A491C8DA0056}" dt="2026-04-29T05:05:30.457" v="190" actId="1035"/>
          <ac:spMkLst>
            <pc:docMk/>
            <pc:sldMk cId="0" sldId="257"/>
            <ac:spMk id="29" creationId="{00000000-0000-0000-0000-000000000000}"/>
          </ac:spMkLst>
        </pc:spChg>
        <pc:spChg chg="mod">
          <ac:chgData name="Sai Mandhala" userId="e549e904d7c1eba4" providerId="LiveId" clId="{2893CB0D-0EA7-43DA-A882-A491C8DA0056}" dt="2026-04-29T05:05:30.457" v="190" actId="1035"/>
          <ac:spMkLst>
            <pc:docMk/>
            <pc:sldMk cId="0" sldId="257"/>
            <ac:spMk id="33" creationId="{00000000-0000-0000-0000-000000000000}"/>
          </ac:spMkLst>
        </pc:spChg>
        <pc:spChg chg="mod">
          <ac:chgData name="Sai Mandhala" userId="e549e904d7c1eba4" providerId="LiveId" clId="{2893CB0D-0EA7-43DA-A882-A491C8DA0056}" dt="2026-04-29T05:05:30.457" v="190" actId="1035"/>
          <ac:spMkLst>
            <pc:docMk/>
            <pc:sldMk cId="0" sldId="257"/>
            <ac:spMk id="39" creationId="{00000000-0000-0000-0000-000000000000}"/>
          </ac:spMkLst>
        </pc:spChg>
        <pc:spChg chg="add del mod">
          <ac:chgData name="Sai Mandhala" userId="e549e904d7c1eba4" providerId="LiveId" clId="{2893CB0D-0EA7-43DA-A882-A491C8DA0056}" dt="2026-04-29T04:56:58.323" v="24" actId="478"/>
          <ac:spMkLst>
            <pc:docMk/>
            <pc:sldMk cId="0" sldId="257"/>
            <ac:spMk id="41" creationId="{00000000-0000-0000-0000-000000000000}"/>
          </ac:spMkLst>
        </pc:spChg>
        <pc:spChg chg="del">
          <ac:chgData name="Sai Mandhala" userId="e549e904d7c1eba4" providerId="LiveId" clId="{2893CB0D-0EA7-43DA-A882-A491C8DA0056}" dt="2026-04-29T04:54:31.638" v="9" actId="478"/>
          <ac:spMkLst>
            <pc:docMk/>
            <pc:sldMk cId="0" sldId="257"/>
            <ac:spMk id="42" creationId="{00000000-0000-0000-0000-000000000000}"/>
          </ac:spMkLst>
        </pc:spChg>
        <pc:spChg chg="del">
          <ac:chgData name="Sai Mandhala" userId="e549e904d7c1eba4" providerId="LiveId" clId="{2893CB0D-0EA7-43DA-A882-A491C8DA0056}" dt="2026-04-29T04:54:31.638" v="9" actId="478"/>
          <ac:spMkLst>
            <pc:docMk/>
            <pc:sldMk cId="0" sldId="257"/>
            <ac:spMk id="43" creationId="{00000000-0000-0000-0000-000000000000}"/>
          </ac:spMkLst>
        </pc:spChg>
        <pc:spChg chg="del">
          <ac:chgData name="Sai Mandhala" userId="e549e904d7c1eba4" providerId="LiveId" clId="{2893CB0D-0EA7-43DA-A882-A491C8DA0056}" dt="2026-04-29T04:54:31.638" v="9" actId="478"/>
          <ac:spMkLst>
            <pc:docMk/>
            <pc:sldMk cId="0" sldId="257"/>
            <ac:spMk id="45" creationId="{00000000-0000-0000-0000-000000000000}"/>
          </ac:spMkLst>
        </pc:spChg>
        <pc:spChg chg="del">
          <ac:chgData name="Sai Mandhala" userId="e549e904d7c1eba4" providerId="LiveId" clId="{2893CB0D-0EA7-43DA-A882-A491C8DA0056}" dt="2026-04-29T04:54:31.638" v="9" actId="478"/>
          <ac:spMkLst>
            <pc:docMk/>
            <pc:sldMk cId="0" sldId="257"/>
            <ac:spMk id="46" creationId="{00000000-0000-0000-0000-000000000000}"/>
          </ac:spMkLst>
        </pc:spChg>
        <pc:spChg chg="del">
          <ac:chgData name="Sai Mandhala" userId="e549e904d7c1eba4" providerId="LiveId" clId="{2893CB0D-0EA7-43DA-A882-A491C8DA0056}" dt="2026-04-29T04:54:31.638" v="9" actId="478"/>
          <ac:spMkLst>
            <pc:docMk/>
            <pc:sldMk cId="0" sldId="257"/>
            <ac:spMk id="47" creationId="{00000000-0000-0000-0000-000000000000}"/>
          </ac:spMkLst>
        </pc:spChg>
        <pc:spChg chg="del">
          <ac:chgData name="Sai Mandhala" userId="e549e904d7c1eba4" providerId="LiveId" clId="{2893CB0D-0EA7-43DA-A882-A491C8DA0056}" dt="2026-04-29T04:54:31.638" v="9" actId="478"/>
          <ac:spMkLst>
            <pc:docMk/>
            <pc:sldMk cId="0" sldId="257"/>
            <ac:spMk id="48" creationId="{00000000-0000-0000-0000-000000000000}"/>
          </ac:spMkLst>
        </pc:spChg>
        <pc:spChg chg="del">
          <ac:chgData name="Sai Mandhala" userId="e549e904d7c1eba4" providerId="LiveId" clId="{2893CB0D-0EA7-43DA-A882-A491C8DA0056}" dt="2026-04-29T04:54:31.638" v="9" actId="478"/>
          <ac:spMkLst>
            <pc:docMk/>
            <pc:sldMk cId="0" sldId="257"/>
            <ac:spMk id="49" creationId="{00000000-0000-0000-0000-000000000000}"/>
          </ac:spMkLst>
        </pc:spChg>
        <pc:spChg chg="del mod">
          <ac:chgData name="Sai Mandhala" userId="e549e904d7c1eba4" providerId="LiveId" clId="{2893CB0D-0EA7-43DA-A882-A491C8DA0056}" dt="2026-04-29T04:54:31.638" v="9" actId="478"/>
          <ac:spMkLst>
            <pc:docMk/>
            <pc:sldMk cId="0" sldId="257"/>
            <ac:spMk id="50" creationId="{00000000-0000-0000-0000-000000000000}"/>
          </ac:spMkLst>
        </pc:spChg>
        <pc:spChg chg="mod">
          <ac:chgData name="Sai Mandhala" userId="e549e904d7c1eba4" providerId="LiveId" clId="{2893CB0D-0EA7-43DA-A882-A491C8DA0056}" dt="2026-04-29T04:54:18.240" v="6" actId="20577"/>
          <ac:spMkLst>
            <pc:docMk/>
            <pc:sldMk cId="0" sldId="257"/>
            <ac:spMk id="51" creationId="{00000000-0000-0000-0000-000000000000}"/>
          </ac:spMkLst>
        </pc:spChg>
        <pc:spChg chg="del">
          <ac:chgData name="Sai Mandhala" userId="e549e904d7c1eba4" providerId="LiveId" clId="{2893CB0D-0EA7-43DA-A882-A491C8DA0056}" dt="2026-04-29T04:54:31.638" v="9" actId="478"/>
          <ac:spMkLst>
            <pc:docMk/>
            <pc:sldMk cId="0" sldId="257"/>
            <ac:spMk id="53" creationId="{00000000-0000-0000-0000-000000000000}"/>
          </ac:spMkLst>
        </pc:spChg>
        <pc:spChg chg="del">
          <ac:chgData name="Sai Mandhala" userId="e549e904d7c1eba4" providerId="LiveId" clId="{2893CB0D-0EA7-43DA-A882-A491C8DA0056}" dt="2026-04-29T04:54:31.638" v="9" actId="478"/>
          <ac:spMkLst>
            <pc:docMk/>
            <pc:sldMk cId="0" sldId="257"/>
            <ac:spMk id="54" creationId="{00000000-0000-0000-0000-000000000000}"/>
          </ac:spMkLst>
        </pc:spChg>
        <pc:spChg chg="add del mod">
          <ac:chgData name="Sai Mandhala" userId="e549e904d7c1eba4" providerId="LiveId" clId="{2893CB0D-0EA7-43DA-A882-A491C8DA0056}" dt="2026-04-29T04:54:44.791" v="12" actId="478"/>
          <ac:spMkLst>
            <pc:docMk/>
            <pc:sldMk cId="0" sldId="257"/>
            <ac:spMk id="55" creationId="{959E8DEB-359E-2AFE-3A9D-A45ACE32EB30}"/>
          </ac:spMkLst>
        </pc:spChg>
        <pc:spChg chg="mod">
          <ac:chgData name="Sai Mandhala" userId="e549e904d7c1eba4" providerId="LiveId" clId="{2893CB0D-0EA7-43DA-A882-A491C8DA0056}" dt="2026-04-29T05:07:21.291" v="253"/>
          <ac:spMkLst>
            <pc:docMk/>
            <pc:sldMk cId="0" sldId="257"/>
            <ac:spMk id="57" creationId="{00000000-0000-0000-0000-000000000000}"/>
          </ac:spMkLst>
        </pc:spChg>
        <pc:spChg chg="add del mod">
          <ac:chgData name="Sai Mandhala" userId="e549e904d7c1eba4" providerId="LiveId" clId="{2893CB0D-0EA7-43DA-A882-A491C8DA0056}" dt="2026-04-29T04:54:44.791" v="12" actId="478"/>
          <ac:spMkLst>
            <pc:docMk/>
            <pc:sldMk cId="0" sldId="257"/>
            <ac:spMk id="59" creationId="{441C7250-B3D1-DC60-6B04-6F3F5D7266AF}"/>
          </ac:spMkLst>
        </pc:spChg>
        <pc:spChg chg="add del mod">
          <ac:chgData name="Sai Mandhala" userId="e549e904d7c1eba4" providerId="LiveId" clId="{2893CB0D-0EA7-43DA-A882-A491C8DA0056}" dt="2026-04-29T04:54:44.791" v="12" actId="478"/>
          <ac:spMkLst>
            <pc:docMk/>
            <pc:sldMk cId="0" sldId="257"/>
            <ac:spMk id="60" creationId="{27A011FB-8922-F6D4-AB96-066BCFDEFAE1}"/>
          </ac:spMkLst>
        </pc:spChg>
        <pc:spChg chg="add del mod">
          <ac:chgData name="Sai Mandhala" userId="e549e904d7c1eba4" providerId="LiveId" clId="{2893CB0D-0EA7-43DA-A882-A491C8DA0056}" dt="2026-04-29T04:54:44.791" v="12" actId="478"/>
          <ac:spMkLst>
            <pc:docMk/>
            <pc:sldMk cId="0" sldId="257"/>
            <ac:spMk id="61" creationId="{5906051D-C36C-E1B0-C38D-DE691A555EE0}"/>
          </ac:spMkLst>
        </pc:spChg>
        <pc:spChg chg="add del mod">
          <ac:chgData name="Sai Mandhala" userId="e549e904d7c1eba4" providerId="LiveId" clId="{2893CB0D-0EA7-43DA-A882-A491C8DA0056}" dt="2026-04-29T04:54:44.791" v="12" actId="478"/>
          <ac:spMkLst>
            <pc:docMk/>
            <pc:sldMk cId="0" sldId="257"/>
            <ac:spMk id="62" creationId="{736A5505-FB66-F0FC-095B-7D2A72BAEBFE}"/>
          </ac:spMkLst>
        </pc:spChg>
        <pc:spChg chg="add del mod">
          <ac:chgData name="Sai Mandhala" userId="e549e904d7c1eba4" providerId="LiveId" clId="{2893CB0D-0EA7-43DA-A882-A491C8DA0056}" dt="2026-04-29T04:54:44.791" v="12" actId="478"/>
          <ac:spMkLst>
            <pc:docMk/>
            <pc:sldMk cId="0" sldId="257"/>
            <ac:spMk id="63" creationId="{D903ADC3-86E2-214E-4B9E-7E176F5BDD40}"/>
          </ac:spMkLst>
        </pc:spChg>
        <pc:spChg chg="add del mod">
          <ac:chgData name="Sai Mandhala" userId="e549e904d7c1eba4" providerId="LiveId" clId="{2893CB0D-0EA7-43DA-A882-A491C8DA0056}" dt="2026-04-29T04:54:44.791" v="12" actId="478"/>
          <ac:spMkLst>
            <pc:docMk/>
            <pc:sldMk cId="0" sldId="257"/>
            <ac:spMk id="64" creationId="{2ACB9883-7582-A3A1-482E-461105F16093}"/>
          </ac:spMkLst>
        </pc:spChg>
        <pc:spChg chg="add del mod">
          <ac:chgData name="Sai Mandhala" userId="e549e904d7c1eba4" providerId="LiveId" clId="{2893CB0D-0EA7-43DA-A882-A491C8DA0056}" dt="2026-04-29T04:54:44.791" v="12" actId="478"/>
          <ac:spMkLst>
            <pc:docMk/>
            <pc:sldMk cId="0" sldId="257"/>
            <ac:spMk id="65" creationId="{48B38DA0-D48F-89F7-F5DB-F2EB3E38CE72}"/>
          </ac:spMkLst>
        </pc:spChg>
        <pc:spChg chg="add del mod">
          <ac:chgData name="Sai Mandhala" userId="e549e904d7c1eba4" providerId="LiveId" clId="{2893CB0D-0EA7-43DA-A882-A491C8DA0056}" dt="2026-04-29T04:54:44.791" v="12" actId="478"/>
          <ac:spMkLst>
            <pc:docMk/>
            <pc:sldMk cId="0" sldId="257"/>
            <ac:spMk id="66" creationId="{4CC30054-5E4E-9BB1-0F0D-EBA034902DDE}"/>
          </ac:spMkLst>
        </pc:spChg>
        <pc:spChg chg="add del mod">
          <ac:chgData name="Sai Mandhala" userId="e549e904d7c1eba4" providerId="LiveId" clId="{2893CB0D-0EA7-43DA-A882-A491C8DA0056}" dt="2026-04-29T04:54:44.791" v="12" actId="478"/>
          <ac:spMkLst>
            <pc:docMk/>
            <pc:sldMk cId="0" sldId="257"/>
            <ac:spMk id="67" creationId="{83A1F844-E1B1-3BC7-4F1F-3421CF07CA4E}"/>
          </ac:spMkLst>
        </pc:spChg>
        <pc:spChg chg="add mod">
          <ac:chgData name="Sai Mandhala" userId="e549e904d7c1eba4" providerId="LiveId" clId="{2893CB0D-0EA7-43DA-A882-A491C8DA0056}" dt="2026-04-29T05:05:41.299" v="211" actId="1036"/>
          <ac:spMkLst>
            <pc:docMk/>
            <pc:sldMk cId="0" sldId="257"/>
            <ac:spMk id="70" creationId="{91C02867-4CFD-70B0-6ADA-2D32C2639A56}"/>
          </ac:spMkLst>
        </pc:spChg>
        <pc:spChg chg="add mod">
          <ac:chgData name="Sai Mandhala" userId="e549e904d7c1eba4" providerId="LiveId" clId="{2893CB0D-0EA7-43DA-A882-A491C8DA0056}" dt="2026-04-29T05:05:41.299" v="211" actId="1036"/>
          <ac:spMkLst>
            <pc:docMk/>
            <pc:sldMk cId="0" sldId="257"/>
            <ac:spMk id="74" creationId="{FCAE1E02-768F-1E6C-0518-7F88DA4D02F3}"/>
          </ac:spMkLst>
        </pc:spChg>
        <pc:spChg chg="add mod">
          <ac:chgData name="Sai Mandhala" userId="e549e904d7c1eba4" providerId="LiveId" clId="{2893CB0D-0EA7-43DA-A882-A491C8DA0056}" dt="2026-04-29T05:05:41.299" v="211" actId="1036"/>
          <ac:spMkLst>
            <pc:docMk/>
            <pc:sldMk cId="0" sldId="257"/>
            <ac:spMk id="75" creationId="{6CDBFD37-3EA1-125F-A8A9-AEF86565DCB4}"/>
          </ac:spMkLst>
        </pc:spChg>
        <pc:spChg chg="add mod">
          <ac:chgData name="Sai Mandhala" userId="e549e904d7c1eba4" providerId="LiveId" clId="{2893CB0D-0EA7-43DA-A882-A491C8DA0056}" dt="2026-04-29T05:05:41.299" v="211" actId="1036"/>
          <ac:spMkLst>
            <pc:docMk/>
            <pc:sldMk cId="0" sldId="257"/>
            <ac:spMk id="76" creationId="{A5284470-C0F0-7D43-E9C4-8BE2A7EFEC9A}"/>
          </ac:spMkLst>
        </pc:spChg>
        <pc:spChg chg="mod">
          <ac:chgData name="Sai Mandhala" userId="e549e904d7c1eba4" providerId="LiveId" clId="{2893CB0D-0EA7-43DA-A882-A491C8DA0056}" dt="2026-04-29T04:56:50.154" v="23" actId="1076"/>
          <ac:spMkLst>
            <pc:docMk/>
            <pc:sldMk cId="0" sldId="257"/>
            <ac:spMk id="77" creationId="{92D3D556-CB59-3054-AB0E-E676B8417D27}"/>
          </ac:spMkLst>
        </pc:spChg>
        <pc:spChg chg="add mod">
          <ac:chgData name="Sai Mandhala" userId="e549e904d7c1eba4" providerId="LiveId" clId="{2893CB0D-0EA7-43DA-A882-A491C8DA0056}" dt="2026-04-29T05:05:41.299" v="211" actId="1036"/>
          <ac:spMkLst>
            <pc:docMk/>
            <pc:sldMk cId="0" sldId="257"/>
            <ac:spMk id="78" creationId="{E37E2BF4-B4F9-CDA8-D0A1-249B19D67356}"/>
          </ac:spMkLst>
        </pc:spChg>
        <pc:spChg chg="add mod">
          <ac:chgData name="Sai Mandhala" userId="e549e904d7c1eba4" providerId="LiveId" clId="{2893CB0D-0EA7-43DA-A882-A491C8DA0056}" dt="2026-04-29T05:05:41.299" v="211" actId="1036"/>
          <ac:spMkLst>
            <pc:docMk/>
            <pc:sldMk cId="0" sldId="257"/>
            <ac:spMk id="79" creationId="{04A1279E-AF7B-3B44-93F2-A430DD534922}"/>
          </ac:spMkLst>
        </pc:spChg>
        <pc:spChg chg="mod">
          <ac:chgData name="Sai Mandhala" userId="e549e904d7c1eba4" providerId="LiveId" clId="{2893CB0D-0EA7-43DA-A882-A491C8DA0056}" dt="2026-04-29T04:56:38.810" v="22" actId="1076"/>
          <ac:spMkLst>
            <pc:docMk/>
            <pc:sldMk cId="0" sldId="257"/>
            <ac:spMk id="80" creationId="{752B690C-3FFD-98C8-E8BF-234995D656F6}"/>
          </ac:spMkLst>
        </pc:spChg>
        <pc:spChg chg="add mod">
          <ac:chgData name="Sai Mandhala" userId="e549e904d7c1eba4" providerId="LiveId" clId="{2893CB0D-0EA7-43DA-A882-A491C8DA0056}" dt="2026-04-29T05:05:41.299" v="211" actId="1036"/>
          <ac:spMkLst>
            <pc:docMk/>
            <pc:sldMk cId="0" sldId="257"/>
            <ac:spMk id="81" creationId="{1E840FEF-C43F-9BA6-FAF6-36AE0D32F730}"/>
          </ac:spMkLst>
        </pc:spChg>
        <pc:spChg chg="mod">
          <ac:chgData name="Sai Mandhala" userId="e549e904d7c1eba4" providerId="LiveId" clId="{2893CB0D-0EA7-43DA-A882-A491C8DA0056}" dt="2026-04-29T04:56:38.810" v="22" actId="1076"/>
          <ac:spMkLst>
            <pc:docMk/>
            <pc:sldMk cId="0" sldId="257"/>
            <ac:spMk id="82" creationId="{D56AFA24-F78C-9066-0698-91231A3118FA}"/>
          </ac:spMkLst>
        </pc:spChg>
        <pc:spChg chg="add mod">
          <ac:chgData name="Sai Mandhala" userId="e549e904d7c1eba4" providerId="LiveId" clId="{2893CB0D-0EA7-43DA-A882-A491C8DA0056}" dt="2026-04-29T05:05:41.299" v="211" actId="1036"/>
          <ac:spMkLst>
            <pc:docMk/>
            <pc:sldMk cId="0" sldId="257"/>
            <ac:spMk id="85" creationId="{22654E54-7AB7-4D0C-0EA0-B9005169313F}"/>
          </ac:spMkLst>
        </pc:spChg>
        <pc:spChg chg="add mod">
          <ac:chgData name="Sai Mandhala" userId="e549e904d7c1eba4" providerId="LiveId" clId="{2893CB0D-0EA7-43DA-A882-A491C8DA0056}" dt="2026-04-29T05:05:41.299" v="211" actId="1036"/>
          <ac:spMkLst>
            <pc:docMk/>
            <pc:sldMk cId="0" sldId="257"/>
            <ac:spMk id="87" creationId="{CDC70BF9-D8BE-B97E-B822-45315E91BFD6}"/>
          </ac:spMkLst>
        </pc:spChg>
        <pc:spChg chg="add mod">
          <ac:chgData name="Sai Mandhala" userId="e549e904d7c1eba4" providerId="LiveId" clId="{2893CB0D-0EA7-43DA-A882-A491C8DA0056}" dt="2026-04-29T05:05:41.299" v="211" actId="1036"/>
          <ac:spMkLst>
            <pc:docMk/>
            <pc:sldMk cId="0" sldId="257"/>
            <ac:spMk id="89" creationId="{229E70BB-18CC-4BAF-F3D9-3C2D01CE5E9F}"/>
          </ac:spMkLst>
        </pc:spChg>
        <pc:spChg chg="add mod">
          <ac:chgData name="Sai Mandhala" userId="e549e904d7c1eba4" providerId="LiveId" clId="{2893CB0D-0EA7-43DA-A882-A491C8DA0056}" dt="2026-04-29T05:06:22.965" v="233" actId="1076"/>
          <ac:spMkLst>
            <pc:docMk/>
            <pc:sldMk cId="0" sldId="257"/>
            <ac:spMk id="93" creationId="{685EA9CF-8B5B-6C76-204B-8EF761837605}"/>
          </ac:spMkLst>
        </pc:spChg>
        <pc:spChg chg="add mod">
          <ac:chgData name="Sai Mandhala" userId="e549e904d7c1eba4" providerId="LiveId" clId="{2893CB0D-0EA7-43DA-A882-A491C8DA0056}" dt="2026-04-29T05:05:18.327" v="174" actId="1076"/>
          <ac:spMkLst>
            <pc:docMk/>
            <pc:sldMk cId="0" sldId="257"/>
            <ac:spMk id="94" creationId="{ECB34946-DFB2-D071-7AEB-4B653A3914A2}"/>
          </ac:spMkLst>
        </pc:spChg>
        <pc:spChg chg="add mod">
          <ac:chgData name="Sai Mandhala" userId="e549e904d7c1eba4" providerId="LiveId" clId="{2893CB0D-0EA7-43DA-A882-A491C8DA0056}" dt="2026-04-29T05:06:14.525" v="231" actId="1036"/>
          <ac:spMkLst>
            <pc:docMk/>
            <pc:sldMk cId="0" sldId="257"/>
            <ac:spMk id="95" creationId="{7D20ED6F-DE2E-A580-5622-D36D27A8E6DD}"/>
          </ac:spMkLst>
        </pc:spChg>
        <pc:spChg chg="add mod">
          <ac:chgData name="Sai Mandhala" userId="e549e904d7c1eba4" providerId="LiveId" clId="{2893CB0D-0EA7-43DA-A882-A491C8DA0056}" dt="2026-04-29T05:06:47.339" v="252" actId="1038"/>
          <ac:spMkLst>
            <pc:docMk/>
            <pc:sldMk cId="0" sldId="257"/>
            <ac:spMk id="96" creationId="{16040BB6-1A5F-B553-2B16-65AA3ABDC398}"/>
          </ac:spMkLst>
        </pc:spChg>
        <pc:spChg chg="add mod">
          <ac:chgData name="Sai Mandhala" userId="e549e904d7c1eba4" providerId="LiveId" clId="{2893CB0D-0EA7-43DA-A882-A491C8DA0056}" dt="2026-04-29T05:04:42.643" v="168" actId="14100"/>
          <ac:spMkLst>
            <pc:docMk/>
            <pc:sldMk cId="0" sldId="257"/>
            <ac:spMk id="97" creationId="{A80ED4BF-FD45-F469-4343-4F18A6F8A9A5}"/>
          </ac:spMkLst>
        </pc:spChg>
        <pc:spChg chg="add mod">
          <ac:chgData name="Sai Mandhala" userId="e549e904d7c1eba4" providerId="LiveId" clId="{2893CB0D-0EA7-43DA-A882-A491C8DA0056}" dt="2026-04-29T05:06:14.525" v="231" actId="1036"/>
          <ac:spMkLst>
            <pc:docMk/>
            <pc:sldMk cId="0" sldId="257"/>
            <ac:spMk id="98" creationId="{3C582822-44AE-1B34-477D-987A08481FF3}"/>
          </ac:spMkLst>
        </pc:spChg>
        <pc:spChg chg="add mod">
          <ac:chgData name="Sai Mandhala" userId="e549e904d7c1eba4" providerId="LiveId" clId="{2893CB0D-0EA7-43DA-A882-A491C8DA0056}" dt="2026-04-29T05:06:31.436" v="251" actId="1037"/>
          <ac:spMkLst>
            <pc:docMk/>
            <pc:sldMk cId="0" sldId="257"/>
            <ac:spMk id="99" creationId="{3DAF8A66-6B49-A334-FA33-925C3834D69A}"/>
          </ac:spMkLst>
        </pc:spChg>
        <pc:spChg chg="add mod">
          <ac:chgData name="Sai Mandhala" userId="e549e904d7c1eba4" providerId="LiveId" clId="{2893CB0D-0EA7-43DA-A882-A491C8DA0056}" dt="2026-04-29T05:04:42.643" v="168" actId="14100"/>
          <ac:spMkLst>
            <pc:docMk/>
            <pc:sldMk cId="0" sldId="257"/>
            <ac:spMk id="100" creationId="{AF1C16C0-F457-EC0E-800A-3DB7978E35ED}"/>
          </ac:spMkLst>
        </pc:spChg>
      </pc:sldChg>
      <pc:sldChg chg="modSp">
        <pc:chgData name="Sai Mandhala" userId="e549e904d7c1eba4" providerId="LiveId" clId="{2893CB0D-0EA7-43DA-A882-A491C8DA0056}" dt="2026-04-29T05:07:21.291" v="253"/>
        <pc:sldMkLst>
          <pc:docMk/>
          <pc:sldMk cId="0" sldId="258"/>
        </pc:sldMkLst>
        <pc:spChg chg="mod">
          <ac:chgData name="Sai Mandhala" userId="e549e904d7c1eba4" providerId="LiveId" clId="{2893CB0D-0EA7-43DA-A882-A491C8DA0056}" dt="2026-04-29T05:07:21.291" v="253"/>
          <ac:spMkLst>
            <pc:docMk/>
            <pc:sldMk cId="0" sldId="258"/>
            <ac:spMk id="51" creationId="{00000000-0000-0000-0000-000000000000}"/>
          </ac:spMkLst>
        </pc:spChg>
      </pc:sldChg>
      <pc:sldChg chg="modSp">
        <pc:chgData name="Sai Mandhala" userId="e549e904d7c1eba4" providerId="LiveId" clId="{2893CB0D-0EA7-43DA-A882-A491C8DA0056}" dt="2026-04-29T05:07:21.291" v="253"/>
        <pc:sldMkLst>
          <pc:docMk/>
          <pc:sldMk cId="0" sldId="259"/>
        </pc:sldMkLst>
        <pc:spChg chg="mod">
          <ac:chgData name="Sai Mandhala" userId="e549e904d7c1eba4" providerId="LiveId" clId="{2893CB0D-0EA7-43DA-A882-A491C8DA0056}" dt="2026-04-29T05:07:21.291" v="253"/>
          <ac:spMkLst>
            <pc:docMk/>
            <pc:sldMk cId="0" sldId="259"/>
            <ac:spMk id="51" creationId="{00000000-0000-0000-0000-000000000000}"/>
          </ac:spMkLst>
        </pc:spChg>
      </pc:sldChg>
      <pc:sldChg chg="modSp">
        <pc:chgData name="Sai Mandhala" userId="e549e904d7c1eba4" providerId="LiveId" clId="{2893CB0D-0EA7-43DA-A882-A491C8DA0056}" dt="2026-04-29T05:07:21.291" v="253"/>
        <pc:sldMkLst>
          <pc:docMk/>
          <pc:sldMk cId="0" sldId="260"/>
        </pc:sldMkLst>
        <pc:spChg chg="mod">
          <ac:chgData name="Sai Mandhala" userId="e549e904d7c1eba4" providerId="LiveId" clId="{2893CB0D-0EA7-43DA-A882-A491C8DA0056}" dt="2026-04-29T05:07:21.291" v="253"/>
          <ac:spMkLst>
            <pc:docMk/>
            <pc:sldMk cId="0" sldId="260"/>
            <ac:spMk id="54" creationId="{00000000-0000-0000-0000-000000000000}"/>
          </ac:spMkLst>
        </pc:spChg>
      </pc:sldChg>
      <pc:sldChg chg="addSp delSp modSp add del mod">
        <pc:chgData name="Sai Mandhala" userId="e549e904d7c1eba4" providerId="LiveId" clId="{2893CB0D-0EA7-43DA-A882-A491C8DA0056}" dt="2026-04-29T05:07:30.712" v="254" actId="2696"/>
        <pc:sldMkLst>
          <pc:docMk/>
          <pc:sldMk cId="1661316275" sldId="261"/>
        </pc:sldMkLst>
        <pc:spChg chg="del mod">
          <ac:chgData name="Sai Mandhala" userId="e549e904d7c1eba4" providerId="LiveId" clId="{2893CB0D-0EA7-43DA-A882-A491C8DA0056}" dt="2026-04-29T05:03:47.833" v="129" actId="21"/>
          <ac:spMkLst>
            <pc:docMk/>
            <pc:sldMk cId="1661316275" sldId="261"/>
            <ac:spMk id="41" creationId="{685EA9CF-8B5B-6C76-204B-8EF761837605}"/>
          </ac:spMkLst>
        </pc:spChg>
        <pc:spChg chg="del mod">
          <ac:chgData name="Sai Mandhala" userId="e549e904d7c1eba4" providerId="LiveId" clId="{2893CB0D-0EA7-43DA-A882-A491C8DA0056}" dt="2026-04-29T05:03:47.833" v="129" actId="21"/>
          <ac:spMkLst>
            <pc:docMk/>
            <pc:sldMk cId="1661316275" sldId="261"/>
            <ac:spMk id="42" creationId="{ECB34946-DFB2-D071-7AEB-4B653A3914A2}"/>
          </ac:spMkLst>
        </pc:spChg>
        <pc:spChg chg="del mod">
          <ac:chgData name="Sai Mandhala" userId="e549e904d7c1eba4" providerId="LiveId" clId="{2893CB0D-0EA7-43DA-A882-A491C8DA0056}" dt="2026-04-29T05:03:47.833" v="129" actId="21"/>
          <ac:spMkLst>
            <pc:docMk/>
            <pc:sldMk cId="1661316275" sldId="261"/>
            <ac:spMk id="43" creationId="{7D20ED6F-DE2E-A580-5622-D36D27A8E6DD}"/>
          </ac:spMkLst>
        </pc:spChg>
        <pc:spChg chg="del mod">
          <ac:chgData name="Sai Mandhala" userId="e549e904d7c1eba4" providerId="LiveId" clId="{2893CB0D-0EA7-43DA-A882-A491C8DA0056}" dt="2026-04-29T05:03:47.833" v="129" actId="21"/>
          <ac:spMkLst>
            <pc:docMk/>
            <pc:sldMk cId="1661316275" sldId="261"/>
            <ac:spMk id="44" creationId="{16040BB6-1A5F-B553-2B16-65AA3ABDC398}"/>
          </ac:spMkLst>
        </pc:spChg>
        <pc:spChg chg="del mod">
          <ac:chgData name="Sai Mandhala" userId="e549e904d7c1eba4" providerId="LiveId" clId="{2893CB0D-0EA7-43DA-A882-A491C8DA0056}" dt="2026-04-29T05:03:47.833" v="129" actId="21"/>
          <ac:spMkLst>
            <pc:docMk/>
            <pc:sldMk cId="1661316275" sldId="261"/>
            <ac:spMk id="45" creationId="{A80ED4BF-FD45-F469-4343-4F18A6F8A9A5}"/>
          </ac:spMkLst>
        </pc:spChg>
        <pc:spChg chg="del mod">
          <ac:chgData name="Sai Mandhala" userId="e549e904d7c1eba4" providerId="LiveId" clId="{2893CB0D-0EA7-43DA-A882-A491C8DA0056}" dt="2026-04-29T05:03:47.833" v="129" actId="21"/>
          <ac:spMkLst>
            <pc:docMk/>
            <pc:sldMk cId="1661316275" sldId="261"/>
            <ac:spMk id="46" creationId="{3C582822-44AE-1B34-477D-987A08481FF3}"/>
          </ac:spMkLst>
        </pc:spChg>
        <pc:spChg chg="del mod">
          <ac:chgData name="Sai Mandhala" userId="e549e904d7c1eba4" providerId="LiveId" clId="{2893CB0D-0EA7-43DA-A882-A491C8DA0056}" dt="2026-04-29T05:03:47.833" v="129" actId="21"/>
          <ac:spMkLst>
            <pc:docMk/>
            <pc:sldMk cId="1661316275" sldId="261"/>
            <ac:spMk id="47" creationId="{3DAF8A66-6B49-A334-FA33-925C3834D69A}"/>
          </ac:spMkLst>
        </pc:spChg>
        <pc:spChg chg="del mod">
          <ac:chgData name="Sai Mandhala" userId="e549e904d7c1eba4" providerId="LiveId" clId="{2893CB0D-0EA7-43DA-A882-A491C8DA0056}" dt="2026-04-29T05:03:47.833" v="129" actId="21"/>
          <ac:spMkLst>
            <pc:docMk/>
            <pc:sldMk cId="1661316275" sldId="261"/>
            <ac:spMk id="48" creationId="{AF1C16C0-F457-EC0E-800A-3DB7978E35ED}"/>
          </ac:spMkLst>
        </pc:spChg>
        <pc:spChg chg="add del">
          <ac:chgData name="Sai Mandhala" userId="e549e904d7c1eba4" providerId="LiveId" clId="{2893CB0D-0EA7-43DA-A882-A491C8DA0056}" dt="2026-04-29T05:01:33.348" v="112" actId="478"/>
          <ac:spMkLst>
            <pc:docMk/>
            <pc:sldMk cId="1661316275" sldId="261"/>
            <ac:spMk id="49" creationId="{95A34B21-2A70-643B-FE41-43B334A7BB9E}"/>
          </ac:spMkLst>
        </pc:spChg>
        <pc:spChg chg="add del">
          <ac:chgData name="Sai Mandhala" userId="e549e904d7c1eba4" providerId="LiveId" clId="{2893CB0D-0EA7-43DA-A882-A491C8DA0056}" dt="2026-04-29T05:01:22.562" v="111" actId="478"/>
          <ac:spMkLst>
            <pc:docMk/>
            <pc:sldMk cId="1661316275" sldId="261"/>
            <ac:spMk id="50" creationId="{F1C5FFC6-14EF-7E34-1E24-C2F19C68FB26}"/>
          </ac:spMkLst>
        </pc:spChg>
        <pc:spChg chg="del mod">
          <ac:chgData name="Sai Mandhala" userId="e549e904d7c1eba4" providerId="LiveId" clId="{2893CB0D-0EA7-43DA-A882-A491C8DA0056}" dt="2026-04-29T05:02:27.416" v="119" actId="478"/>
          <ac:spMkLst>
            <pc:docMk/>
            <pc:sldMk cId="1661316275" sldId="261"/>
            <ac:spMk id="51" creationId="{C1DB4FAA-C9E7-6F76-BB73-46D51788991E}"/>
          </ac:spMkLst>
        </pc:spChg>
        <pc:spChg chg="del mod">
          <ac:chgData name="Sai Mandhala" userId="e549e904d7c1eba4" providerId="LiveId" clId="{2893CB0D-0EA7-43DA-A882-A491C8DA0056}" dt="2026-04-29T05:02:16.336" v="115" actId="478"/>
          <ac:spMkLst>
            <pc:docMk/>
            <pc:sldMk cId="1661316275" sldId="261"/>
            <ac:spMk id="52" creationId="{EC52DB67-00B3-8717-0F6A-2C8CE67D4B13}"/>
          </ac:spMkLst>
        </pc:spChg>
        <pc:spChg chg="del mod">
          <ac:chgData name="Sai Mandhala" userId="e549e904d7c1eba4" providerId="LiveId" clId="{2893CB0D-0EA7-43DA-A882-A491C8DA0056}" dt="2026-04-29T05:02:15.104" v="114" actId="478"/>
          <ac:spMkLst>
            <pc:docMk/>
            <pc:sldMk cId="1661316275" sldId="261"/>
            <ac:spMk id="53" creationId="{0A0DB730-6B3C-504F-D5AE-437850AB04DD}"/>
          </ac:spMkLst>
        </pc:spChg>
        <pc:spChg chg="del mod">
          <ac:chgData name="Sai Mandhala" userId="e549e904d7c1eba4" providerId="LiveId" clId="{2893CB0D-0EA7-43DA-A882-A491C8DA0056}" dt="2026-04-29T05:02:18.099" v="117" actId="478"/>
          <ac:spMkLst>
            <pc:docMk/>
            <pc:sldMk cId="1661316275" sldId="261"/>
            <ac:spMk id="54" creationId="{5ABEB1EF-21A6-4A75-D278-B4CD387C6D56}"/>
          </ac:spMkLst>
        </pc:spChg>
        <pc:spChg chg="mod">
          <ac:chgData name="Sai Mandhala" userId="e549e904d7c1eba4" providerId="LiveId" clId="{2893CB0D-0EA7-43DA-A882-A491C8DA0056}" dt="2026-04-29T05:07:21.291" v="253"/>
          <ac:spMkLst>
            <pc:docMk/>
            <pc:sldMk cId="1661316275" sldId="261"/>
            <ac:spMk id="57" creationId="{0977E573-16D6-6906-4743-CF1F728031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206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end-to-end pipeline. Files land on shared drives; Python ingests them into Snowflake RAW; Soda validates raw data; dbt transforms to STAGE with additional business validations; final curated tables are exposed in REPORTING. Highlight the separation of concerns and the two quality gates.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jobs read CSV/Excel from shared drives and load them as-is into the RAW schema using the Snowflake connector. RAW is immutable and acts as the source of truth. Soda then runs declarative checks (nulls, duplicates, schema, freshness). Failed checks halt the pipeline so bad data never reaches STAGE.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dbt models read from RAW and apply transformations into STAGE. STAGE has two validation layers: technical/data validations (types, ranges, referential integrity) and business rule validations (KPIs, domain logic). Only valid rows graduate to REPORTING which serves BI tools. Snowflake separates compute (Virtual Warehouse) from storage; the same warehouse queries the three schemas, enforcing trust tiers via roles.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swimlane summarises the full journey from a CSV on a shared drive to a published reporting mart consumed by BI. Two explicit quality gates protect the downstream layers: Soda on RAW and dbt tests + business validations on STAGE. The bottom strip lists where failures most commonly originate, helping operators triage incidents quickly.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1828800"/>
            <a:ext cx="5486400" cy="5486400"/>
          </a:xfrm>
          <a:prstGeom prst="ellipse">
            <a:avLst/>
          </a:prstGeom>
          <a:solidFill>
            <a:srgbClr val="F96167">
              <a:alpha val="30000"/>
            </a:srgbClr>
          </a:solidFill>
          <a:ln/>
        </p:spPr>
        <p:txBody>
          <a:bodyPr/>
          <a:lstStyle/>
          <a:p>
            <a:endParaRPr lang="en-US"/>
          </a:p>
        </p:txBody>
      </p:sp>
      <p:sp>
        <p:nvSpPr>
          <p:cNvPr id="3" name="Shape 1"/>
          <p:cNvSpPr/>
          <p:nvPr/>
        </p:nvSpPr>
        <p:spPr>
          <a:xfrm>
            <a:off x="-1828800" y="4572000"/>
            <a:ext cx="4572000" cy="4572000"/>
          </a:xfrm>
          <a:prstGeom prst="ellipse">
            <a:avLst/>
          </a:prstGeom>
          <a:solidFill>
            <a:srgbClr val="CADCFC">
              <a:alpha val="15000"/>
            </a:srgbClr>
          </a:solidFill>
          <a:ln/>
        </p:spPr>
        <p:txBody>
          <a:bodyPr/>
          <a:lstStyle/>
          <a:p>
            <a:endParaRPr lang="en-US"/>
          </a:p>
        </p:txBody>
      </p:sp>
      <p:sp>
        <p:nvSpPr>
          <p:cNvPr id="5" name="Text 3"/>
          <p:cNvSpPr/>
          <p:nvPr/>
        </p:nvSpPr>
        <p:spPr>
          <a:xfrm>
            <a:off x="640080" y="2103120"/>
            <a:ext cx="10058400" cy="146304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ARIA Data Pipeline Architecture</a:t>
            </a:r>
            <a:endParaRPr lang="en-US" sz="4800" dirty="0"/>
          </a:p>
        </p:txBody>
      </p:sp>
      <p:sp>
        <p:nvSpPr>
          <p:cNvPr id="6" name="Text 4"/>
          <p:cNvSpPr/>
          <p:nvPr/>
        </p:nvSpPr>
        <p:spPr>
          <a:xfrm>
            <a:off x="640080" y="3931920"/>
            <a:ext cx="9144000" cy="82296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From shared-drive files to trusted reporting schema — orchestrated with Python, Snowflake, Soda and dbt.</a:t>
            </a:r>
            <a:endParaRPr lang="en-US" sz="1800" dirty="0"/>
          </a:p>
        </p:txBody>
      </p:sp>
      <p:sp>
        <p:nvSpPr>
          <p:cNvPr id="7" name="Shape 5"/>
          <p:cNvSpPr/>
          <p:nvPr/>
        </p:nvSpPr>
        <p:spPr>
          <a:xfrm>
            <a:off x="640080" y="5212080"/>
            <a:ext cx="1234440" cy="411480"/>
          </a:xfrm>
          <a:prstGeom prst="roundRect">
            <a:avLst>
              <a:gd name="adj" fmla="val 17778"/>
            </a:avLst>
          </a:prstGeom>
          <a:solidFill>
            <a:srgbClr val="FFFFFF">
              <a:alpha val="15000"/>
            </a:srgbClr>
          </a:solidFill>
          <a:ln w="6350">
            <a:solidFill>
              <a:srgbClr val="CADCFC"/>
            </a:solidFill>
            <a:prstDash val="solid"/>
          </a:ln>
        </p:spPr>
        <p:txBody>
          <a:bodyPr/>
          <a:lstStyle/>
          <a:p>
            <a:endParaRPr lang="en-US"/>
          </a:p>
        </p:txBody>
      </p:sp>
      <p:sp>
        <p:nvSpPr>
          <p:cNvPr id="8" name="Text 6"/>
          <p:cNvSpPr/>
          <p:nvPr/>
        </p:nvSpPr>
        <p:spPr>
          <a:xfrm>
            <a:off x="640080" y="5212080"/>
            <a:ext cx="12344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Python</a:t>
            </a:r>
            <a:endParaRPr lang="en-US" sz="1200" dirty="0"/>
          </a:p>
        </p:txBody>
      </p:sp>
      <p:sp>
        <p:nvSpPr>
          <p:cNvPr id="9" name="Shape 7"/>
          <p:cNvSpPr/>
          <p:nvPr/>
        </p:nvSpPr>
        <p:spPr>
          <a:xfrm>
            <a:off x="2011680" y="5212080"/>
            <a:ext cx="1234440" cy="411480"/>
          </a:xfrm>
          <a:prstGeom prst="roundRect">
            <a:avLst>
              <a:gd name="adj" fmla="val 17778"/>
            </a:avLst>
          </a:prstGeom>
          <a:solidFill>
            <a:srgbClr val="FFFFFF">
              <a:alpha val="15000"/>
            </a:srgbClr>
          </a:solidFill>
          <a:ln w="6350">
            <a:solidFill>
              <a:srgbClr val="CADCFC"/>
            </a:solidFill>
            <a:prstDash val="solid"/>
          </a:ln>
        </p:spPr>
        <p:txBody>
          <a:bodyPr/>
          <a:lstStyle/>
          <a:p>
            <a:endParaRPr lang="en-US"/>
          </a:p>
        </p:txBody>
      </p:sp>
      <p:sp>
        <p:nvSpPr>
          <p:cNvPr id="10" name="Text 8"/>
          <p:cNvSpPr/>
          <p:nvPr/>
        </p:nvSpPr>
        <p:spPr>
          <a:xfrm>
            <a:off x="2011680" y="5212080"/>
            <a:ext cx="12344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Snowflake</a:t>
            </a:r>
            <a:endParaRPr lang="en-US" sz="1200" dirty="0"/>
          </a:p>
        </p:txBody>
      </p:sp>
      <p:sp>
        <p:nvSpPr>
          <p:cNvPr id="11" name="Shape 9"/>
          <p:cNvSpPr/>
          <p:nvPr/>
        </p:nvSpPr>
        <p:spPr>
          <a:xfrm>
            <a:off x="3383280" y="5212080"/>
            <a:ext cx="1234440" cy="411480"/>
          </a:xfrm>
          <a:prstGeom prst="roundRect">
            <a:avLst>
              <a:gd name="adj" fmla="val 17778"/>
            </a:avLst>
          </a:prstGeom>
          <a:solidFill>
            <a:srgbClr val="FFFFFF">
              <a:alpha val="15000"/>
            </a:srgbClr>
          </a:solidFill>
          <a:ln w="6350">
            <a:solidFill>
              <a:srgbClr val="CADCFC"/>
            </a:solidFill>
            <a:prstDash val="solid"/>
          </a:ln>
        </p:spPr>
        <p:txBody>
          <a:bodyPr/>
          <a:lstStyle/>
          <a:p>
            <a:endParaRPr lang="en-US"/>
          </a:p>
        </p:txBody>
      </p:sp>
      <p:sp>
        <p:nvSpPr>
          <p:cNvPr id="12" name="Text 10"/>
          <p:cNvSpPr/>
          <p:nvPr/>
        </p:nvSpPr>
        <p:spPr>
          <a:xfrm>
            <a:off x="3383280" y="5212080"/>
            <a:ext cx="12344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Soda</a:t>
            </a:r>
            <a:endParaRPr lang="en-US" sz="1200" dirty="0"/>
          </a:p>
        </p:txBody>
      </p:sp>
      <p:sp>
        <p:nvSpPr>
          <p:cNvPr id="13" name="Shape 11"/>
          <p:cNvSpPr/>
          <p:nvPr/>
        </p:nvSpPr>
        <p:spPr>
          <a:xfrm>
            <a:off x="4754880" y="5212080"/>
            <a:ext cx="1234440" cy="411480"/>
          </a:xfrm>
          <a:prstGeom prst="roundRect">
            <a:avLst>
              <a:gd name="adj" fmla="val 17778"/>
            </a:avLst>
          </a:prstGeom>
          <a:solidFill>
            <a:srgbClr val="FFFFFF">
              <a:alpha val="15000"/>
            </a:srgbClr>
          </a:solidFill>
          <a:ln w="6350">
            <a:solidFill>
              <a:srgbClr val="CADCFC"/>
            </a:solidFill>
            <a:prstDash val="solid"/>
          </a:ln>
        </p:spPr>
        <p:txBody>
          <a:bodyPr/>
          <a:lstStyle/>
          <a:p>
            <a:endParaRPr lang="en-US"/>
          </a:p>
        </p:txBody>
      </p:sp>
      <p:sp>
        <p:nvSpPr>
          <p:cNvPr id="14" name="Text 12"/>
          <p:cNvSpPr/>
          <p:nvPr/>
        </p:nvSpPr>
        <p:spPr>
          <a:xfrm>
            <a:off x="4754880" y="5212080"/>
            <a:ext cx="123444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dbt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96167"/>
          </a:solidFill>
          <a:ln/>
        </p:spPr>
        <p:txBody>
          <a:bodyPr/>
          <a:lstStyle/>
          <a:p>
            <a:endParaRPr lang="en-US"/>
          </a:p>
        </p:txBody>
      </p:sp>
      <p:sp>
        <p:nvSpPr>
          <p:cNvPr id="3" name="Text 1"/>
          <p:cNvSpPr/>
          <p:nvPr/>
        </p:nvSpPr>
        <p:spPr>
          <a:xfrm>
            <a:off x="457200" y="228600"/>
            <a:ext cx="10972800" cy="274320"/>
          </a:xfrm>
          <a:prstGeom prst="rect">
            <a:avLst/>
          </a:prstGeom>
          <a:noFill/>
          <a:ln/>
        </p:spPr>
        <p:txBody>
          <a:bodyPr wrap="square"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457200" y="502920"/>
            <a:ext cx="10972800" cy="64008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End-to-End Architecture Overview</a:t>
            </a:r>
            <a:endParaRPr lang="en-US" sz="3000" dirty="0"/>
          </a:p>
        </p:txBody>
      </p:sp>
      <p:sp>
        <p:nvSpPr>
          <p:cNvPr id="5" name="Shape 3"/>
          <p:cNvSpPr/>
          <p:nvPr/>
        </p:nvSpPr>
        <p:spPr>
          <a:xfrm>
            <a:off x="457200" y="1188720"/>
            <a:ext cx="1097280" cy="0"/>
          </a:xfrm>
          <a:prstGeom prst="line">
            <a:avLst/>
          </a:prstGeom>
          <a:noFill/>
          <a:ln w="25400">
            <a:solidFill>
              <a:srgbClr val="1E2761"/>
            </a:solidFill>
            <a:prstDash val="solid"/>
          </a:ln>
        </p:spPr>
        <p:txBody>
          <a:bodyPr/>
          <a:lstStyle/>
          <a:p>
            <a:endParaRPr lang="en-US"/>
          </a:p>
        </p:txBody>
      </p:sp>
      <p:sp>
        <p:nvSpPr>
          <p:cNvPr id="6" name="Shape 4"/>
          <p:cNvSpPr/>
          <p:nvPr/>
        </p:nvSpPr>
        <p:spPr>
          <a:xfrm>
            <a:off x="365760" y="1373505"/>
            <a:ext cx="1783080" cy="1371600"/>
          </a:xfrm>
          <a:prstGeom prst="roundRect">
            <a:avLst>
              <a:gd name="adj" fmla="val 5333"/>
            </a:avLst>
          </a:prstGeom>
          <a:solidFill>
            <a:srgbClr val="FFFFFF"/>
          </a:solidFill>
          <a:ln w="25400">
            <a:solidFill>
              <a:srgbClr val="64748B"/>
            </a:solidFill>
            <a:prstDash val="solid"/>
          </a:ln>
        </p:spPr>
        <p:txBody>
          <a:bodyPr/>
          <a:lstStyle/>
          <a:p>
            <a:endParaRPr lang="en-US"/>
          </a:p>
        </p:txBody>
      </p:sp>
      <p:sp>
        <p:nvSpPr>
          <p:cNvPr id="7" name="Shape 5"/>
          <p:cNvSpPr/>
          <p:nvPr/>
        </p:nvSpPr>
        <p:spPr>
          <a:xfrm>
            <a:off x="365760" y="1373505"/>
            <a:ext cx="1783080" cy="320040"/>
          </a:xfrm>
          <a:prstGeom prst="rect">
            <a:avLst/>
          </a:prstGeom>
          <a:solidFill>
            <a:srgbClr val="64748B"/>
          </a:solidFill>
          <a:ln/>
        </p:spPr>
        <p:txBody>
          <a:bodyPr/>
          <a:lstStyle/>
          <a:p>
            <a:endParaRPr lang="en-US"/>
          </a:p>
        </p:txBody>
      </p:sp>
      <p:sp>
        <p:nvSpPr>
          <p:cNvPr id="8" name="Text 6"/>
          <p:cNvSpPr/>
          <p:nvPr/>
        </p:nvSpPr>
        <p:spPr>
          <a:xfrm>
            <a:off x="365760" y="1373505"/>
            <a:ext cx="1783080" cy="3200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SOURCES</a:t>
            </a:r>
            <a:endParaRPr lang="en-US" sz="1200" dirty="0"/>
          </a:p>
        </p:txBody>
      </p:sp>
      <p:sp>
        <p:nvSpPr>
          <p:cNvPr id="9" name="Text 7"/>
          <p:cNvSpPr/>
          <p:nvPr/>
        </p:nvSpPr>
        <p:spPr>
          <a:xfrm>
            <a:off x="365760" y="1739265"/>
            <a:ext cx="1783080" cy="411480"/>
          </a:xfrm>
          <a:prstGeom prst="rect">
            <a:avLst/>
          </a:prstGeom>
          <a:noFill/>
          <a:ln/>
        </p:spPr>
        <p:txBody>
          <a:bodyPr wrap="square" rtlCol="0" anchor="ctr"/>
          <a:lstStyle/>
          <a:p>
            <a:pPr marL="0" indent="0" algn="ctr">
              <a:buNone/>
            </a:pPr>
            <a:r>
              <a:rPr lang="en-US" sz="2400" dirty="0">
                <a:solidFill>
                  <a:srgbClr val="64748B"/>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411480" y="2150745"/>
            <a:ext cx="1691640" cy="548640"/>
          </a:xfrm>
          <a:prstGeom prst="rect">
            <a:avLst/>
          </a:prstGeom>
          <a:noFill/>
          <a:ln/>
        </p:spPr>
        <p:txBody>
          <a:bodyPr wrap="square" rtlCol="0" anchor="ctr"/>
          <a:lstStyle/>
          <a:p>
            <a:pPr marL="0" indent="0" algn="ctr">
              <a:buNone/>
            </a:pPr>
            <a:r>
              <a:rPr lang="en-US" sz="1000" dirty="0">
                <a:solidFill>
                  <a:srgbClr val="0F1A3D"/>
                </a:solidFill>
                <a:latin typeface="Calibri" pitchFamily="34" charset="0"/>
                <a:ea typeface="Calibri" pitchFamily="34" charset="-122"/>
                <a:cs typeface="Calibri" pitchFamily="34" charset="-120"/>
              </a:rPr>
              <a:t>CSV / Excel</a:t>
            </a:r>
            <a:endParaRPr lang="en-US" sz="1000" dirty="0"/>
          </a:p>
          <a:p>
            <a:pPr marL="0" indent="0" algn="ctr">
              <a:buNone/>
            </a:pPr>
            <a:r>
              <a:rPr lang="en-US" sz="1000" dirty="0">
                <a:solidFill>
                  <a:srgbClr val="0F1A3D"/>
                </a:solidFill>
                <a:latin typeface="Calibri" pitchFamily="34" charset="0"/>
                <a:ea typeface="Calibri" pitchFamily="34" charset="-122"/>
                <a:cs typeface="Calibri" pitchFamily="34" charset="-120"/>
              </a:rPr>
              <a:t>Network drives</a:t>
            </a:r>
            <a:endParaRPr lang="en-US" sz="1000" dirty="0"/>
          </a:p>
        </p:txBody>
      </p:sp>
      <p:sp>
        <p:nvSpPr>
          <p:cNvPr id="11" name="Shape 9"/>
          <p:cNvSpPr/>
          <p:nvPr/>
        </p:nvSpPr>
        <p:spPr>
          <a:xfrm>
            <a:off x="2157984" y="1986153"/>
            <a:ext cx="146304" cy="146304"/>
          </a:xfrm>
          <a:prstGeom prst="line">
            <a:avLst/>
          </a:prstGeom>
          <a:solidFill>
            <a:srgbClr val="1E2761"/>
          </a:solidFill>
          <a:ln/>
        </p:spPr>
        <p:txBody>
          <a:bodyPr/>
          <a:lstStyle/>
          <a:p>
            <a:endParaRPr lang="en-US"/>
          </a:p>
        </p:txBody>
      </p:sp>
      <p:sp>
        <p:nvSpPr>
          <p:cNvPr id="12" name="Shape 10"/>
          <p:cNvSpPr/>
          <p:nvPr/>
        </p:nvSpPr>
        <p:spPr>
          <a:xfrm>
            <a:off x="2313432" y="1373505"/>
            <a:ext cx="1783080" cy="1371600"/>
          </a:xfrm>
          <a:prstGeom prst="roundRect">
            <a:avLst>
              <a:gd name="adj" fmla="val 5333"/>
            </a:avLst>
          </a:prstGeom>
          <a:solidFill>
            <a:srgbClr val="FFFFFF"/>
          </a:solidFill>
          <a:ln w="25400">
            <a:solidFill>
              <a:srgbClr val="1E2761"/>
            </a:solidFill>
            <a:prstDash val="solid"/>
          </a:ln>
        </p:spPr>
        <p:txBody>
          <a:bodyPr/>
          <a:lstStyle/>
          <a:p>
            <a:endParaRPr lang="en-US"/>
          </a:p>
        </p:txBody>
      </p:sp>
      <p:sp>
        <p:nvSpPr>
          <p:cNvPr id="13" name="Shape 11"/>
          <p:cNvSpPr/>
          <p:nvPr/>
        </p:nvSpPr>
        <p:spPr>
          <a:xfrm>
            <a:off x="2313432" y="1373505"/>
            <a:ext cx="1783080" cy="320040"/>
          </a:xfrm>
          <a:prstGeom prst="rect">
            <a:avLst/>
          </a:prstGeom>
          <a:solidFill>
            <a:srgbClr val="1E2761"/>
          </a:solidFill>
          <a:ln/>
        </p:spPr>
        <p:txBody>
          <a:bodyPr/>
          <a:lstStyle/>
          <a:p>
            <a:endParaRPr lang="en-US"/>
          </a:p>
        </p:txBody>
      </p:sp>
      <p:sp>
        <p:nvSpPr>
          <p:cNvPr id="14" name="Text 12"/>
          <p:cNvSpPr/>
          <p:nvPr/>
        </p:nvSpPr>
        <p:spPr>
          <a:xfrm>
            <a:off x="2313432" y="1373505"/>
            <a:ext cx="1783080" cy="3200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INGEST</a:t>
            </a:r>
            <a:endParaRPr lang="en-US" sz="1200" dirty="0"/>
          </a:p>
        </p:txBody>
      </p:sp>
      <p:sp>
        <p:nvSpPr>
          <p:cNvPr id="15" name="Text 13"/>
          <p:cNvSpPr/>
          <p:nvPr/>
        </p:nvSpPr>
        <p:spPr>
          <a:xfrm>
            <a:off x="2313432" y="1739265"/>
            <a:ext cx="1783080" cy="411480"/>
          </a:xfrm>
          <a:prstGeom prst="rect">
            <a:avLst/>
          </a:prstGeom>
          <a:noFill/>
          <a:ln/>
        </p:spPr>
        <p:txBody>
          <a:bodyPr wrap="square" rtlCol="0" anchor="ctr"/>
          <a:lstStyle/>
          <a:p>
            <a:pPr marL="0" indent="0" algn="ctr">
              <a:buNone/>
            </a:pPr>
            <a:r>
              <a:rPr lang="en-US" sz="2400" dirty="0">
                <a:solidFill>
                  <a:srgbClr val="1E2761"/>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2359152" y="2150745"/>
            <a:ext cx="1691640" cy="548640"/>
          </a:xfrm>
          <a:prstGeom prst="rect">
            <a:avLst/>
          </a:prstGeom>
          <a:noFill/>
          <a:ln/>
        </p:spPr>
        <p:txBody>
          <a:bodyPr wrap="square" rtlCol="0" anchor="ctr"/>
          <a:lstStyle/>
          <a:p>
            <a:pPr marL="0" indent="0" algn="ctr">
              <a:buNone/>
            </a:pPr>
            <a:r>
              <a:rPr lang="en-US" sz="1000" dirty="0">
                <a:solidFill>
                  <a:srgbClr val="0F1A3D"/>
                </a:solidFill>
                <a:latin typeface="Calibri" pitchFamily="34" charset="0"/>
                <a:ea typeface="Calibri" pitchFamily="34" charset="-122"/>
                <a:cs typeface="Calibri" pitchFamily="34" charset="-120"/>
              </a:rPr>
              <a:t>Python +</a:t>
            </a:r>
            <a:endParaRPr lang="en-US" sz="1000" dirty="0"/>
          </a:p>
          <a:p>
            <a:pPr marL="0" indent="0" algn="ctr">
              <a:buNone/>
            </a:pPr>
            <a:r>
              <a:rPr lang="en-US" sz="1000" dirty="0">
                <a:solidFill>
                  <a:srgbClr val="0F1A3D"/>
                </a:solidFill>
                <a:latin typeface="Calibri" pitchFamily="34" charset="0"/>
                <a:ea typeface="Calibri" pitchFamily="34" charset="-122"/>
                <a:cs typeface="Calibri" pitchFamily="34" charset="-120"/>
              </a:rPr>
              <a:t>Snowflake Connector</a:t>
            </a:r>
            <a:endParaRPr lang="en-US" sz="1000" dirty="0"/>
          </a:p>
        </p:txBody>
      </p:sp>
      <p:sp>
        <p:nvSpPr>
          <p:cNvPr id="17" name="Shape 15"/>
          <p:cNvSpPr/>
          <p:nvPr/>
        </p:nvSpPr>
        <p:spPr>
          <a:xfrm>
            <a:off x="4105656" y="1986153"/>
            <a:ext cx="146304" cy="146304"/>
          </a:xfrm>
          <a:prstGeom prst="line">
            <a:avLst/>
          </a:prstGeom>
          <a:solidFill>
            <a:srgbClr val="1E2761"/>
          </a:solidFill>
          <a:ln/>
        </p:spPr>
        <p:txBody>
          <a:bodyPr/>
          <a:lstStyle/>
          <a:p>
            <a:endParaRPr lang="en-US"/>
          </a:p>
        </p:txBody>
      </p:sp>
      <p:sp>
        <p:nvSpPr>
          <p:cNvPr id="18" name="Shape 16"/>
          <p:cNvSpPr/>
          <p:nvPr/>
        </p:nvSpPr>
        <p:spPr>
          <a:xfrm>
            <a:off x="4261104" y="1373505"/>
            <a:ext cx="1783080" cy="1371600"/>
          </a:xfrm>
          <a:prstGeom prst="roundRect">
            <a:avLst>
              <a:gd name="adj" fmla="val 5333"/>
            </a:avLst>
          </a:prstGeom>
          <a:solidFill>
            <a:srgbClr val="FFFFFF"/>
          </a:solidFill>
          <a:ln w="25400">
            <a:solidFill>
              <a:srgbClr val="8B5CF6"/>
            </a:solidFill>
            <a:prstDash val="solid"/>
          </a:ln>
        </p:spPr>
        <p:txBody>
          <a:bodyPr/>
          <a:lstStyle/>
          <a:p>
            <a:endParaRPr lang="en-US"/>
          </a:p>
        </p:txBody>
      </p:sp>
      <p:sp>
        <p:nvSpPr>
          <p:cNvPr id="19" name="Shape 17"/>
          <p:cNvSpPr/>
          <p:nvPr/>
        </p:nvSpPr>
        <p:spPr>
          <a:xfrm>
            <a:off x="4261104" y="1373505"/>
            <a:ext cx="1783080" cy="320040"/>
          </a:xfrm>
          <a:prstGeom prst="rect">
            <a:avLst/>
          </a:prstGeom>
          <a:solidFill>
            <a:srgbClr val="8B5CF6"/>
          </a:solidFill>
          <a:ln/>
        </p:spPr>
        <p:txBody>
          <a:bodyPr/>
          <a:lstStyle/>
          <a:p>
            <a:endParaRPr lang="en-US"/>
          </a:p>
        </p:txBody>
      </p:sp>
      <p:sp>
        <p:nvSpPr>
          <p:cNvPr id="20" name="Text 18"/>
          <p:cNvSpPr/>
          <p:nvPr/>
        </p:nvSpPr>
        <p:spPr>
          <a:xfrm>
            <a:off x="4261104" y="1373505"/>
            <a:ext cx="1783080" cy="3200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RAW</a:t>
            </a:r>
            <a:endParaRPr lang="en-US" sz="1200" dirty="0"/>
          </a:p>
        </p:txBody>
      </p:sp>
      <p:sp>
        <p:nvSpPr>
          <p:cNvPr id="21" name="Text 19"/>
          <p:cNvSpPr/>
          <p:nvPr/>
        </p:nvSpPr>
        <p:spPr>
          <a:xfrm>
            <a:off x="4261104" y="1739265"/>
            <a:ext cx="1783080" cy="411480"/>
          </a:xfrm>
          <a:prstGeom prst="rect">
            <a:avLst/>
          </a:prstGeom>
          <a:noFill/>
          <a:ln/>
        </p:spPr>
        <p:txBody>
          <a:bodyPr wrap="square" rtlCol="0" anchor="ctr"/>
          <a:lstStyle/>
          <a:p>
            <a:pPr marL="0" indent="0" algn="ctr">
              <a:buNone/>
            </a:pPr>
            <a:r>
              <a:rPr lang="en-US" sz="2400" dirty="0">
                <a:solidFill>
                  <a:srgbClr val="8B5CF6"/>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4306824" y="2150745"/>
            <a:ext cx="1691640" cy="548640"/>
          </a:xfrm>
          <a:prstGeom prst="rect">
            <a:avLst/>
          </a:prstGeom>
          <a:noFill/>
          <a:ln/>
        </p:spPr>
        <p:txBody>
          <a:bodyPr wrap="square" rtlCol="0" anchor="ctr"/>
          <a:lstStyle/>
          <a:p>
            <a:pPr marL="0" indent="0" algn="ctr">
              <a:buNone/>
            </a:pPr>
            <a:r>
              <a:rPr lang="en-US" sz="1000" dirty="0">
                <a:solidFill>
                  <a:srgbClr val="0F1A3D"/>
                </a:solidFill>
                <a:latin typeface="Calibri" pitchFamily="34" charset="0"/>
                <a:ea typeface="Calibri" pitchFamily="34" charset="-122"/>
                <a:cs typeface="Calibri" pitchFamily="34" charset="-120"/>
              </a:rPr>
              <a:t>Snowflake</a:t>
            </a:r>
            <a:endParaRPr lang="en-US" sz="1000" dirty="0"/>
          </a:p>
          <a:p>
            <a:pPr marL="0" indent="0" algn="ctr">
              <a:buNone/>
            </a:pPr>
            <a:r>
              <a:rPr lang="en-US" sz="1000" dirty="0">
                <a:solidFill>
                  <a:srgbClr val="0F1A3D"/>
                </a:solidFill>
                <a:latin typeface="Calibri" pitchFamily="34" charset="0"/>
                <a:ea typeface="Calibri" pitchFamily="34" charset="-122"/>
                <a:cs typeface="Calibri" pitchFamily="34" charset="-120"/>
              </a:rPr>
              <a:t>RAW schema</a:t>
            </a:r>
            <a:endParaRPr lang="en-US" sz="1000" dirty="0"/>
          </a:p>
        </p:txBody>
      </p:sp>
      <p:sp>
        <p:nvSpPr>
          <p:cNvPr id="23" name="Shape 21"/>
          <p:cNvSpPr/>
          <p:nvPr/>
        </p:nvSpPr>
        <p:spPr>
          <a:xfrm>
            <a:off x="6053328" y="1986153"/>
            <a:ext cx="146304" cy="146304"/>
          </a:xfrm>
          <a:prstGeom prst="line">
            <a:avLst/>
          </a:prstGeom>
          <a:solidFill>
            <a:srgbClr val="1E2761"/>
          </a:solidFill>
          <a:ln/>
        </p:spPr>
        <p:txBody>
          <a:bodyPr/>
          <a:lstStyle/>
          <a:p>
            <a:endParaRPr lang="en-US"/>
          </a:p>
        </p:txBody>
      </p:sp>
      <p:sp>
        <p:nvSpPr>
          <p:cNvPr id="24" name="Shape 22"/>
          <p:cNvSpPr/>
          <p:nvPr/>
        </p:nvSpPr>
        <p:spPr>
          <a:xfrm>
            <a:off x="6208776" y="1373505"/>
            <a:ext cx="1783080" cy="1371600"/>
          </a:xfrm>
          <a:prstGeom prst="roundRect">
            <a:avLst>
              <a:gd name="adj" fmla="val 5333"/>
            </a:avLst>
          </a:prstGeom>
          <a:solidFill>
            <a:srgbClr val="FFFFFF"/>
          </a:solidFill>
          <a:ln w="25400">
            <a:solidFill>
              <a:srgbClr val="F96167"/>
            </a:solidFill>
            <a:prstDash val="solid"/>
          </a:ln>
        </p:spPr>
        <p:txBody>
          <a:bodyPr/>
          <a:lstStyle/>
          <a:p>
            <a:endParaRPr lang="en-US"/>
          </a:p>
        </p:txBody>
      </p:sp>
      <p:sp>
        <p:nvSpPr>
          <p:cNvPr id="25" name="Shape 23"/>
          <p:cNvSpPr/>
          <p:nvPr/>
        </p:nvSpPr>
        <p:spPr>
          <a:xfrm>
            <a:off x="6208776" y="1373505"/>
            <a:ext cx="1783080" cy="320040"/>
          </a:xfrm>
          <a:prstGeom prst="rect">
            <a:avLst/>
          </a:prstGeom>
          <a:solidFill>
            <a:srgbClr val="F96167"/>
          </a:solidFill>
          <a:ln/>
        </p:spPr>
        <p:txBody>
          <a:bodyPr/>
          <a:lstStyle/>
          <a:p>
            <a:endParaRPr lang="en-US"/>
          </a:p>
        </p:txBody>
      </p:sp>
      <p:sp>
        <p:nvSpPr>
          <p:cNvPr id="26" name="Text 24"/>
          <p:cNvSpPr/>
          <p:nvPr/>
        </p:nvSpPr>
        <p:spPr>
          <a:xfrm>
            <a:off x="6208776" y="1373505"/>
            <a:ext cx="1783080" cy="3200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QUALITY</a:t>
            </a:r>
            <a:endParaRPr lang="en-US" sz="1200" dirty="0"/>
          </a:p>
        </p:txBody>
      </p:sp>
      <p:sp>
        <p:nvSpPr>
          <p:cNvPr id="27" name="Text 25"/>
          <p:cNvSpPr/>
          <p:nvPr/>
        </p:nvSpPr>
        <p:spPr>
          <a:xfrm>
            <a:off x="6208776" y="1739265"/>
            <a:ext cx="1783080" cy="411480"/>
          </a:xfrm>
          <a:prstGeom prst="rect">
            <a:avLst/>
          </a:prstGeom>
          <a:noFill/>
          <a:ln/>
        </p:spPr>
        <p:txBody>
          <a:bodyPr wrap="square" rtlCol="0" anchor="ctr"/>
          <a:lstStyle/>
          <a:p>
            <a:pPr marL="0" indent="0" algn="ctr">
              <a:buNone/>
            </a:pPr>
            <a:r>
              <a:rPr lang="en-US" sz="2400" dirty="0">
                <a:solidFill>
                  <a:srgbClr val="F96167"/>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254496" y="2150745"/>
            <a:ext cx="1691640" cy="548640"/>
          </a:xfrm>
          <a:prstGeom prst="rect">
            <a:avLst/>
          </a:prstGeom>
          <a:noFill/>
          <a:ln/>
        </p:spPr>
        <p:txBody>
          <a:bodyPr wrap="square" rtlCol="0" anchor="ctr"/>
          <a:lstStyle/>
          <a:p>
            <a:pPr marL="0" indent="0" algn="ctr">
              <a:buNone/>
            </a:pPr>
            <a:r>
              <a:rPr lang="en-US" sz="1000" dirty="0">
                <a:solidFill>
                  <a:srgbClr val="0F1A3D"/>
                </a:solidFill>
                <a:latin typeface="Calibri" pitchFamily="34" charset="0"/>
                <a:ea typeface="Calibri" pitchFamily="34" charset="-122"/>
                <a:cs typeface="Calibri" pitchFamily="34" charset="-120"/>
              </a:rPr>
              <a:t>Soda</a:t>
            </a:r>
            <a:endParaRPr lang="en-US" sz="1000" dirty="0"/>
          </a:p>
          <a:p>
            <a:pPr marL="0" indent="0" algn="ctr">
              <a:buNone/>
            </a:pPr>
            <a:r>
              <a:rPr lang="en-US" sz="1000" dirty="0">
                <a:solidFill>
                  <a:srgbClr val="0F1A3D"/>
                </a:solidFill>
                <a:latin typeface="Calibri" pitchFamily="34" charset="0"/>
                <a:ea typeface="Calibri" pitchFamily="34" charset="-122"/>
                <a:cs typeface="Calibri" pitchFamily="34" charset="-120"/>
              </a:rPr>
              <a:t>DQ checks</a:t>
            </a:r>
            <a:endParaRPr lang="en-US" sz="1000" dirty="0"/>
          </a:p>
        </p:txBody>
      </p:sp>
      <p:sp>
        <p:nvSpPr>
          <p:cNvPr id="29" name="Shape 27"/>
          <p:cNvSpPr/>
          <p:nvPr/>
        </p:nvSpPr>
        <p:spPr>
          <a:xfrm>
            <a:off x="8001000" y="1986153"/>
            <a:ext cx="146304" cy="146304"/>
          </a:xfrm>
          <a:prstGeom prst="line">
            <a:avLst/>
          </a:prstGeom>
          <a:solidFill>
            <a:srgbClr val="1E2761"/>
          </a:solidFill>
          <a:ln/>
        </p:spPr>
        <p:txBody>
          <a:bodyPr/>
          <a:lstStyle/>
          <a:p>
            <a:endParaRPr lang="en-US"/>
          </a:p>
        </p:txBody>
      </p:sp>
      <p:sp>
        <p:nvSpPr>
          <p:cNvPr id="30" name="Shape 28"/>
          <p:cNvSpPr/>
          <p:nvPr/>
        </p:nvSpPr>
        <p:spPr>
          <a:xfrm>
            <a:off x="8156448" y="1373505"/>
            <a:ext cx="1783080" cy="1371600"/>
          </a:xfrm>
          <a:prstGeom prst="roundRect">
            <a:avLst>
              <a:gd name="adj" fmla="val 5333"/>
            </a:avLst>
          </a:prstGeom>
          <a:solidFill>
            <a:srgbClr val="FFFFFF"/>
          </a:solidFill>
          <a:ln w="25400">
            <a:solidFill>
              <a:srgbClr val="0EA5E9"/>
            </a:solidFill>
            <a:prstDash val="solid"/>
          </a:ln>
        </p:spPr>
        <p:txBody>
          <a:bodyPr/>
          <a:lstStyle/>
          <a:p>
            <a:endParaRPr lang="en-US"/>
          </a:p>
        </p:txBody>
      </p:sp>
      <p:sp>
        <p:nvSpPr>
          <p:cNvPr id="31" name="Shape 29"/>
          <p:cNvSpPr/>
          <p:nvPr/>
        </p:nvSpPr>
        <p:spPr>
          <a:xfrm>
            <a:off x="8156448" y="1373505"/>
            <a:ext cx="1783080" cy="320040"/>
          </a:xfrm>
          <a:prstGeom prst="rect">
            <a:avLst/>
          </a:prstGeom>
          <a:solidFill>
            <a:srgbClr val="0EA5E9"/>
          </a:solidFill>
          <a:ln/>
        </p:spPr>
        <p:txBody>
          <a:bodyPr/>
          <a:lstStyle/>
          <a:p>
            <a:endParaRPr lang="en-US"/>
          </a:p>
        </p:txBody>
      </p:sp>
      <p:sp>
        <p:nvSpPr>
          <p:cNvPr id="32" name="Text 30"/>
          <p:cNvSpPr/>
          <p:nvPr/>
        </p:nvSpPr>
        <p:spPr>
          <a:xfrm>
            <a:off x="8156448" y="1373505"/>
            <a:ext cx="1783080" cy="3200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STAGE</a:t>
            </a:r>
            <a:endParaRPr lang="en-US" sz="1200" dirty="0"/>
          </a:p>
        </p:txBody>
      </p:sp>
      <p:sp>
        <p:nvSpPr>
          <p:cNvPr id="33" name="Text 31"/>
          <p:cNvSpPr/>
          <p:nvPr/>
        </p:nvSpPr>
        <p:spPr>
          <a:xfrm>
            <a:off x="8156448" y="1739265"/>
            <a:ext cx="1783080" cy="411480"/>
          </a:xfrm>
          <a:prstGeom prst="rect">
            <a:avLst/>
          </a:prstGeom>
          <a:noFill/>
          <a:ln/>
        </p:spPr>
        <p:txBody>
          <a:bodyPr wrap="square" rtlCol="0" anchor="ctr"/>
          <a:lstStyle/>
          <a:p>
            <a:pPr marL="0" indent="0" algn="ctr">
              <a:buNone/>
            </a:pPr>
            <a:r>
              <a:rPr lang="en-US" sz="2400" dirty="0">
                <a:solidFill>
                  <a:srgbClr val="0EA5E9"/>
                </a:solidFill>
                <a:latin typeface="Calibri" pitchFamily="34" charset="0"/>
                <a:ea typeface="Calibri" pitchFamily="34" charset="-122"/>
                <a:cs typeface="Calibri" pitchFamily="34" charset="-120"/>
              </a:rPr>
              <a:t>⚙</a:t>
            </a:r>
            <a:endParaRPr lang="en-US" sz="2400" dirty="0"/>
          </a:p>
        </p:txBody>
      </p:sp>
      <p:sp>
        <p:nvSpPr>
          <p:cNvPr id="34" name="Text 32"/>
          <p:cNvSpPr/>
          <p:nvPr/>
        </p:nvSpPr>
        <p:spPr>
          <a:xfrm>
            <a:off x="8202168" y="2150745"/>
            <a:ext cx="1691640" cy="548640"/>
          </a:xfrm>
          <a:prstGeom prst="rect">
            <a:avLst/>
          </a:prstGeom>
          <a:noFill/>
          <a:ln/>
        </p:spPr>
        <p:txBody>
          <a:bodyPr wrap="square" rtlCol="0" anchor="ctr"/>
          <a:lstStyle/>
          <a:p>
            <a:pPr marL="0" indent="0" algn="ctr">
              <a:buNone/>
            </a:pPr>
            <a:r>
              <a:rPr lang="en-US" sz="1000" dirty="0">
                <a:solidFill>
                  <a:srgbClr val="0F1A3D"/>
                </a:solidFill>
                <a:latin typeface="Calibri" pitchFamily="34" charset="0"/>
                <a:ea typeface="Calibri" pitchFamily="34" charset="-122"/>
                <a:cs typeface="Calibri" pitchFamily="34" charset="-120"/>
              </a:rPr>
              <a:t>dbt models</a:t>
            </a:r>
            <a:endParaRPr lang="en-US" sz="1000" dirty="0"/>
          </a:p>
          <a:p>
            <a:pPr marL="0" indent="0" algn="ctr">
              <a:buNone/>
            </a:pPr>
            <a:r>
              <a:rPr lang="en-US" sz="1000" dirty="0">
                <a:solidFill>
                  <a:srgbClr val="0F1A3D"/>
                </a:solidFill>
                <a:latin typeface="Calibri" pitchFamily="34" charset="0"/>
                <a:ea typeface="Calibri" pitchFamily="34" charset="-122"/>
                <a:cs typeface="Calibri" pitchFamily="34" charset="-120"/>
              </a:rPr>
              <a:t>+ validations</a:t>
            </a:r>
            <a:endParaRPr lang="en-US" sz="1000" dirty="0"/>
          </a:p>
        </p:txBody>
      </p:sp>
      <p:sp>
        <p:nvSpPr>
          <p:cNvPr id="35" name="Shape 33"/>
          <p:cNvSpPr/>
          <p:nvPr/>
        </p:nvSpPr>
        <p:spPr>
          <a:xfrm>
            <a:off x="9948672" y="1986153"/>
            <a:ext cx="146304" cy="146304"/>
          </a:xfrm>
          <a:prstGeom prst="line">
            <a:avLst/>
          </a:prstGeom>
          <a:solidFill>
            <a:srgbClr val="1E2761"/>
          </a:solidFill>
          <a:ln/>
        </p:spPr>
        <p:txBody>
          <a:bodyPr/>
          <a:lstStyle/>
          <a:p>
            <a:endParaRPr lang="en-US"/>
          </a:p>
        </p:txBody>
      </p:sp>
      <p:sp>
        <p:nvSpPr>
          <p:cNvPr id="36" name="Shape 34"/>
          <p:cNvSpPr/>
          <p:nvPr/>
        </p:nvSpPr>
        <p:spPr>
          <a:xfrm>
            <a:off x="10104120" y="1373505"/>
            <a:ext cx="1783080" cy="1371600"/>
          </a:xfrm>
          <a:prstGeom prst="roundRect">
            <a:avLst>
              <a:gd name="adj" fmla="val 5333"/>
            </a:avLst>
          </a:prstGeom>
          <a:solidFill>
            <a:srgbClr val="FFFFFF"/>
          </a:solidFill>
          <a:ln w="25400">
            <a:solidFill>
              <a:srgbClr val="22C55E"/>
            </a:solidFill>
            <a:prstDash val="solid"/>
          </a:ln>
        </p:spPr>
        <p:txBody>
          <a:bodyPr/>
          <a:lstStyle/>
          <a:p>
            <a:endParaRPr lang="en-US"/>
          </a:p>
        </p:txBody>
      </p:sp>
      <p:sp>
        <p:nvSpPr>
          <p:cNvPr id="37" name="Shape 35"/>
          <p:cNvSpPr/>
          <p:nvPr/>
        </p:nvSpPr>
        <p:spPr>
          <a:xfrm>
            <a:off x="10104120" y="1373505"/>
            <a:ext cx="1783080" cy="320040"/>
          </a:xfrm>
          <a:prstGeom prst="rect">
            <a:avLst/>
          </a:prstGeom>
          <a:solidFill>
            <a:srgbClr val="22C55E"/>
          </a:solidFill>
          <a:ln/>
        </p:spPr>
        <p:txBody>
          <a:bodyPr/>
          <a:lstStyle/>
          <a:p>
            <a:endParaRPr lang="en-US"/>
          </a:p>
        </p:txBody>
      </p:sp>
      <p:sp>
        <p:nvSpPr>
          <p:cNvPr id="38" name="Text 36"/>
          <p:cNvSpPr/>
          <p:nvPr/>
        </p:nvSpPr>
        <p:spPr>
          <a:xfrm>
            <a:off x="10104120" y="1373505"/>
            <a:ext cx="1783080" cy="3200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REPORT</a:t>
            </a:r>
            <a:endParaRPr lang="en-US" sz="1200" dirty="0"/>
          </a:p>
        </p:txBody>
      </p:sp>
      <p:sp>
        <p:nvSpPr>
          <p:cNvPr id="39" name="Text 37"/>
          <p:cNvSpPr/>
          <p:nvPr/>
        </p:nvSpPr>
        <p:spPr>
          <a:xfrm>
            <a:off x="10104120" y="1739265"/>
            <a:ext cx="1783080" cy="411480"/>
          </a:xfrm>
          <a:prstGeom prst="rect">
            <a:avLst/>
          </a:prstGeom>
          <a:noFill/>
          <a:ln/>
        </p:spPr>
        <p:txBody>
          <a:bodyPr wrap="square" rtlCol="0" anchor="ctr"/>
          <a:lstStyle/>
          <a:p>
            <a:pPr marL="0" indent="0" algn="ctr">
              <a:buNone/>
            </a:pPr>
            <a:r>
              <a:rPr lang="en-US" sz="2400" dirty="0">
                <a:solidFill>
                  <a:srgbClr val="22C55E"/>
                </a:solidFill>
                <a:latin typeface="Calibri" pitchFamily="34" charset="0"/>
                <a:ea typeface="Calibri" pitchFamily="34" charset="-122"/>
                <a:cs typeface="Calibri" pitchFamily="34" charset="-120"/>
              </a:rPr>
              <a:t>★</a:t>
            </a:r>
            <a:endParaRPr lang="en-US" sz="2400" dirty="0"/>
          </a:p>
        </p:txBody>
      </p:sp>
      <p:sp>
        <p:nvSpPr>
          <p:cNvPr id="40" name="Text 38"/>
          <p:cNvSpPr/>
          <p:nvPr/>
        </p:nvSpPr>
        <p:spPr>
          <a:xfrm>
            <a:off x="10149840" y="2150745"/>
            <a:ext cx="1691640" cy="548640"/>
          </a:xfrm>
          <a:prstGeom prst="rect">
            <a:avLst/>
          </a:prstGeom>
          <a:noFill/>
          <a:ln/>
        </p:spPr>
        <p:txBody>
          <a:bodyPr wrap="square" rtlCol="0" anchor="ctr"/>
          <a:lstStyle/>
          <a:p>
            <a:pPr marL="0" indent="0" algn="ctr">
              <a:buNone/>
            </a:pPr>
            <a:r>
              <a:rPr lang="en-US" sz="1000" dirty="0">
                <a:solidFill>
                  <a:srgbClr val="0F1A3D"/>
                </a:solidFill>
                <a:latin typeface="Calibri" pitchFamily="34" charset="0"/>
                <a:ea typeface="Calibri" pitchFamily="34" charset="-122"/>
                <a:cs typeface="Calibri" pitchFamily="34" charset="-120"/>
              </a:rPr>
              <a:t>Reporting</a:t>
            </a:r>
            <a:endParaRPr lang="en-US" sz="1000" dirty="0"/>
          </a:p>
          <a:p>
            <a:pPr marL="0" indent="0" algn="ctr">
              <a:buNone/>
            </a:pPr>
            <a:r>
              <a:rPr lang="en-US" sz="1000" dirty="0">
                <a:solidFill>
                  <a:srgbClr val="0F1A3D"/>
                </a:solidFill>
                <a:latin typeface="Calibri" pitchFamily="34" charset="0"/>
                <a:ea typeface="Calibri" pitchFamily="34" charset="-122"/>
                <a:cs typeface="Calibri" pitchFamily="34" charset="-120"/>
              </a:rPr>
              <a:t>schema (mart/curated)</a:t>
            </a:r>
            <a:endParaRPr lang="en-US" sz="1000" dirty="0"/>
          </a:p>
        </p:txBody>
      </p:sp>
      <p:sp>
        <p:nvSpPr>
          <p:cNvPr id="56" name="Shape 53"/>
          <p:cNvSpPr/>
          <p:nvPr/>
        </p:nvSpPr>
        <p:spPr>
          <a:xfrm>
            <a:off x="0" y="6675120"/>
            <a:ext cx="12188952" cy="182880"/>
          </a:xfrm>
          <a:prstGeom prst="rect">
            <a:avLst/>
          </a:prstGeom>
          <a:solidFill>
            <a:srgbClr val="1E2761"/>
          </a:solidFill>
          <a:ln/>
        </p:spPr>
        <p:txBody>
          <a:bodyPr/>
          <a:lstStyle/>
          <a:p>
            <a:endParaRPr lang="en-US"/>
          </a:p>
        </p:txBody>
      </p:sp>
      <p:sp>
        <p:nvSpPr>
          <p:cNvPr id="57" name="Text 54"/>
          <p:cNvSpPr/>
          <p:nvPr/>
        </p:nvSpPr>
        <p:spPr>
          <a:xfrm>
            <a:off x="274320" y="6446520"/>
            <a:ext cx="73152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ARIA Data Pipeline  •  Snowflake + dbt + Soda</a:t>
            </a:r>
            <a:endParaRPr lang="en-US" sz="900" dirty="0"/>
          </a:p>
        </p:txBody>
      </p:sp>
      <p:sp>
        <p:nvSpPr>
          <p:cNvPr id="58" name="Text 55"/>
          <p:cNvSpPr/>
          <p:nvPr/>
        </p:nvSpPr>
        <p:spPr>
          <a:xfrm>
            <a:off x="11612880" y="6446520"/>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68" name="Text 17">
            <a:extLst>
              <a:ext uri="{FF2B5EF4-FFF2-40B4-BE49-F238E27FC236}">
                <a16:creationId xmlns:a16="http://schemas.microsoft.com/office/drawing/2014/main" id="{ECE11C14-409B-C843-112A-86B4BCCE2B64}"/>
              </a:ext>
            </a:extLst>
          </p:cNvPr>
          <p:cNvSpPr/>
          <p:nvPr/>
        </p:nvSpPr>
        <p:spPr>
          <a:xfrm>
            <a:off x="1142434" y="2833443"/>
            <a:ext cx="8595360" cy="347472"/>
          </a:xfrm>
          <a:prstGeom prst="rect">
            <a:avLst/>
          </a:prstGeom>
          <a:noFill/>
          <a:ln/>
        </p:spPr>
        <p:txBody>
          <a:bodyPr wrap="square" rtlCol="0" anchor="ctr"/>
          <a:lstStyle/>
          <a:p>
            <a:pPr marL="0" indent="0" algn="ctr">
              <a:buNone/>
            </a:pPr>
            <a:r>
              <a:rPr lang="en-US" sz="1100" b="1" dirty="0">
                <a:solidFill>
                  <a:srgbClr val="0E9AA7"/>
                </a:solidFill>
              </a:rPr>
              <a:t>PIPELINE AT A GLANCE</a:t>
            </a:r>
            <a:endParaRPr lang="en-US" sz="1100" dirty="0"/>
          </a:p>
        </p:txBody>
      </p:sp>
      <p:sp>
        <p:nvSpPr>
          <p:cNvPr id="69" name="Shape 18">
            <a:extLst>
              <a:ext uri="{FF2B5EF4-FFF2-40B4-BE49-F238E27FC236}">
                <a16:creationId xmlns:a16="http://schemas.microsoft.com/office/drawing/2014/main" id="{8EA386B5-FEEA-C36F-0971-ED3339D2386D}"/>
              </a:ext>
            </a:extLst>
          </p:cNvPr>
          <p:cNvSpPr/>
          <p:nvPr/>
        </p:nvSpPr>
        <p:spPr>
          <a:xfrm>
            <a:off x="1409470" y="3244923"/>
            <a:ext cx="1536192" cy="1143000"/>
          </a:xfrm>
          <a:prstGeom prst="rect">
            <a:avLst/>
          </a:prstGeom>
          <a:solidFill>
            <a:srgbClr val="1B6CA8"/>
          </a:solidFill>
          <a:ln w="12700">
            <a:solidFill>
              <a:srgbClr val="1B6CA8"/>
            </a:solidFill>
            <a:prstDash val="solid"/>
          </a:ln>
          <a:effectLst>
            <a:outerShdw blurRad="101600" dist="38100" dir="8100000" algn="bl" rotWithShape="0">
              <a:srgbClr val="000000">
                <a:alpha val="18000"/>
              </a:srgbClr>
            </a:outerShdw>
          </a:effectLst>
        </p:spPr>
        <p:txBody>
          <a:bodyPr/>
          <a:lstStyle/>
          <a:p>
            <a:endParaRPr lang="en-US"/>
          </a:p>
        </p:txBody>
      </p:sp>
      <p:sp>
        <p:nvSpPr>
          <p:cNvPr id="70" name="Text 19">
            <a:extLst>
              <a:ext uri="{FF2B5EF4-FFF2-40B4-BE49-F238E27FC236}">
                <a16:creationId xmlns:a16="http://schemas.microsoft.com/office/drawing/2014/main" id="{91C02867-4CFD-70B0-6ADA-2D32C2639A56}"/>
              </a:ext>
            </a:extLst>
          </p:cNvPr>
          <p:cNvSpPr/>
          <p:nvPr/>
        </p:nvSpPr>
        <p:spPr>
          <a:xfrm>
            <a:off x="1409470" y="3290643"/>
            <a:ext cx="1536192" cy="292608"/>
          </a:xfrm>
          <a:prstGeom prst="rect">
            <a:avLst/>
          </a:prstGeom>
          <a:noFill/>
          <a:ln/>
        </p:spPr>
        <p:txBody>
          <a:bodyPr wrap="square" rtlCol="0" anchor="ctr"/>
          <a:lstStyle/>
          <a:p>
            <a:pPr marL="0" indent="0" algn="ctr">
              <a:buNone/>
            </a:pPr>
            <a:r>
              <a:rPr lang="en-US" sz="1000" b="1" dirty="0">
                <a:solidFill>
                  <a:srgbClr val="FFFFFF"/>
                </a:solidFill>
              </a:rPr>
              <a:t>INGEST</a:t>
            </a:r>
            <a:endParaRPr lang="en-US" sz="1000" dirty="0"/>
          </a:p>
        </p:txBody>
      </p:sp>
      <p:sp>
        <p:nvSpPr>
          <p:cNvPr id="71" name="Text 20">
            <a:extLst>
              <a:ext uri="{FF2B5EF4-FFF2-40B4-BE49-F238E27FC236}">
                <a16:creationId xmlns:a16="http://schemas.microsoft.com/office/drawing/2014/main" id="{57A184A2-81A5-C7FF-B8FD-A90526EFCAD9}"/>
              </a:ext>
            </a:extLst>
          </p:cNvPr>
          <p:cNvSpPr/>
          <p:nvPr/>
        </p:nvSpPr>
        <p:spPr>
          <a:xfrm>
            <a:off x="1409470" y="3574107"/>
            <a:ext cx="1536192" cy="228600"/>
          </a:xfrm>
          <a:prstGeom prst="rect">
            <a:avLst/>
          </a:prstGeom>
          <a:noFill/>
          <a:ln/>
        </p:spPr>
        <p:txBody>
          <a:bodyPr wrap="square" rtlCol="0" anchor="ctr"/>
          <a:lstStyle/>
          <a:p>
            <a:pPr marL="0" indent="0" algn="ctr">
              <a:buNone/>
            </a:pPr>
            <a:r>
              <a:rPr lang="en-US" sz="900" i="1" dirty="0">
                <a:solidFill>
                  <a:srgbClr val="FFFFFF"/>
                </a:solidFill>
              </a:rPr>
              <a:t>Python</a:t>
            </a:r>
            <a:endParaRPr lang="en-US" sz="900" dirty="0"/>
          </a:p>
        </p:txBody>
      </p:sp>
      <p:sp>
        <p:nvSpPr>
          <p:cNvPr id="72" name="Text 21">
            <a:extLst>
              <a:ext uri="{FF2B5EF4-FFF2-40B4-BE49-F238E27FC236}">
                <a16:creationId xmlns:a16="http://schemas.microsoft.com/office/drawing/2014/main" id="{ECAE77DD-4AB0-7FDA-4EDC-299ABB3FEAAF}"/>
              </a:ext>
            </a:extLst>
          </p:cNvPr>
          <p:cNvSpPr/>
          <p:nvPr/>
        </p:nvSpPr>
        <p:spPr>
          <a:xfrm>
            <a:off x="1409470" y="3793563"/>
            <a:ext cx="1536192" cy="502920"/>
          </a:xfrm>
          <a:prstGeom prst="rect">
            <a:avLst/>
          </a:prstGeom>
          <a:noFill/>
          <a:ln/>
        </p:spPr>
        <p:txBody>
          <a:bodyPr wrap="square" rtlCol="0" anchor="ctr"/>
          <a:lstStyle/>
          <a:p>
            <a:pPr marL="0" indent="0" algn="ctr">
              <a:buNone/>
            </a:pPr>
            <a:r>
              <a:rPr lang="en-US" sz="850" dirty="0">
                <a:solidFill>
                  <a:srgbClr val="FFFFFF"/>
                </a:solidFill>
              </a:rPr>
              <a:t>CSV / Excel</a:t>
            </a:r>
            <a:endParaRPr lang="en-US" sz="850" dirty="0"/>
          </a:p>
          <a:p>
            <a:pPr marL="0" indent="0" algn="ctr">
              <a:buNone/>
            </a:pPr>
            <a:r>
              <a:rPr lang="en-US" sz="850" dirty="0">
                <a:solidFill>
                  <a:srgbClr val="FFFFFF"/>
                </a:solidFill>
              </a:rPr>
              <a:t>Network Drives</a:t>
            </a:r>
            <a:endParaRPr lang="en-US" sz="850" dirty="0"/>
          </a:p>
        </p:txBody>
      </p:sp>
      <p:sp>
        <p:nvSpPr>
          <p:cNvPr id="73" name="Text 22">
            <a:extLst>
              <a:ext uri="{FF2B5EF4-FFF2-40B4-BE49-F238E27FC236}">
                <a16:creationId xmlns:a16="http://schemas.microsoft.com/office/drawing/2014/main" id="{A582A287-AA99-47E5-09DC-51AFF933C9D8}"/>
              </a:ext>
            </a:extLst>
          </p:cNvPr>
          <p:cNvSpPr/>
          <p:nvPr/>
        </p:nvSpPr>
        <p:spPr>
          <a:xfrm>
            <a:off x="2954806" y="3628971"/>
            <a:ext cx="164592" cy="292608"/>
          </a:xfrm>
          <a:prstGeom prst="rect">
            <a:avLst/>
          </a:prstGeom>
          <a:noFill/>
          <a:ln/>
        </p:spPr>
        <p:txBody>
          <a:bodyPr wrap="square" lIns="0" tIns="0" rIns="0" bIns="0" rtlCol="0" anchor="ctr"/>
          <a:lstStyle/>
          <a:p>
            <a:pPr marL="0" indent="0" algn="ctr">
              <a:buNone/>
            </a:pPr>
            <a:r>
              <a:rPr lang="en-US" sz="1200" dirty="0">
                <a:solidFill>
                  <a:srgbClr val="0E9AA7"/>
                </a:solidFill>
              </a:rPr>
              <a:t>→</a:t>
            </a:r>
            <a:endParaRPr lang="en-US" sz="1200" dirty="0"/>
          </a:p>
        </p:txBody>
      </p:sp>
      <p:sp>
        <p:nvSpPr>
          <p:cNvPr id="74" name="Shape 23">
            <a:extLst>
              <a:ext uri="{FF2B5EF4-FFF2-40B4-BE49-F238E27FC236}">
                <a16:creationId xmlns:a16="http://schemas.microsoft.com/office/drawing/2014/main" id="{FCAE1E02-768F-1E6C-0518-7F88DA4D02F3}"/>
              </a:ext>
            </a:extLst>
          </p:cNvPr>
          <p:cNvSpPr/>
          <p:nvPr/>
        </p:nvSpPr>
        <p:spPr>
          <a:xfrm>
            <a:off x="4760746" y="3244923"/>
            <a:ext cx="1536192" cy="1143000"/>
          </a:xfrm>
          <a:prstGeom prst="rect">
            <a:avLst/>
          </a:prstGeom>
          <a:solidFill>
            <a:srgbClr val="1A2E44"/>
          </a:solidFill>
          <a:ln w="12700">
            <a:solidFill>
              <a:srgbClr val="1A2E44"/>
            </a:solidFill>
            <a:prstDash val="solid"/>
          </a:ln>
          <a:effectLst>
            <a:outerShdw blurRad="101600" dist="38100" dir="8100000" algn="bl" rotWithShape="0">
              <a:srgbClr val="000000">
                <a:alpha val="18000"/>
              </a:srgbClr>
            </a:outerShdw>
          </a:effectLst>
        </p:spPr>
        <p:txBody>
          <a:bodyPr/>
          <a:lstStyle/>
          <a:p>
            <a:endParaRPr lang="en-US"/>
          </a:p>
        </p:txBody>
      </p:sp>
      <p:sp>
        <p:nvSpPr>
          <p:cNvPr id="75" name="Text 24">
            <a:extLst>
              <a:ext uri="{FF2B5EF4-FFF2-40B4-BE49-F238E27FC236}">
                <a16:creationId xmlns:a16="http://schemas.microsoft.com/office/drawing/2014/main" id="{6CDBFD37-3EA1-125F-A8A9-AEF86565DCB4}"/>
              </a:ext>
            </a:extLst>
          </p:cNvPr>
          <p:cNvSpPr/>
          <p:nvPr/>
        </p:nvSpPr>
        <p:spPr>
          <a:xfrm>
            <a:off x="4760746" y="3290643"/>
            <a:ext cx="1536192" cy="292608"/>
          </a:xfrm>
          <a:prstGeom prst="rect">
            <a:avLst/>
          </a:prstGeom>
          <a:noFill/>
          <a:ln/>
        </p:spPr>
        <p:txBody>
          <a:bodyPr wrap="square" rtlCol="0" anchor="ctr"/>
          <a:lstStyle/>
          <a:p>
            <a:pPr marL="0" indent="0" algn="ctr">
              <a:buNone/>
            </a:pPr>
            <a:r>
              <a:rPr lang="en-US" sz="1000" b="1" dirty="0">
                <a:solidFill>
                  <a:srgbClr val="FFFFFF"/>
                </a:solidFill>
              </a:rPr>
              <a:t>RAW</a:t>
            </a:r>
            <a:endParaRPr lang="en-US" sz="1000" dirty="0"/>
          </a:p>
        </p:txBody>
      </p:sp>
      <p:sp>
        <p:nvSpPr>
          <p:cNvPr id="76" name="Text 25">
            <a:extLst>
              <a:ext uri="{FF2B5EF4-FFF2-40B4-BE49-F238E27FC236}">
                <a16:creationId xmlns:a16="http://schemas.microsoft.com/office/drawing/2014/main" id="{A5284470-C0F0-7D43-E9C4-8BE2A7EFEC9A}"/>
              </a:ext>
            </a:extLst>
          </p:cNvPr>
          <p:cNvSpPr/>
          <p:nvPr/>
        </p:nvSpPr>
        <p:spPr>
          <a:xfrm>
            <a:off x="4760746" y="3574107"/>
            <a:ext cx="1536192" cy="228600"/>
          </a:xfrm>
          <a:prstGeom prst="rect">
            <a:avLst/>
          </a:prstGeom>
          <a:noFill/>
          <a:ln/>
        </p:spPr>
        <p:txBody>
          <a:bodyPr wrap="square" rtlCol="0" anchor="ctr"/>
          <a:lstStyle/>
          <a:p>
            <a:pPr marL="0" indent="0" algn="ctr">
              <a:buNone/>
            </a:pPr>
            <a:r>
              <a:rPr lang="en-US" sz="900" i="1" dirty="0">
                <a:solidFill>
                  <a:srgbClr val="FFFFFF"/>
                </a:solidFill>
              </a:rPr>
              <a:t>Snowflake</a:t>
            </a:r>
            <a:endParaRPr lang="en-US" sz="900" dirty="0"/>
          </a:p>
        </p:txBody>
      </p:sp>
      <p:sp>
        <p:nvSpPr>
          <p:cNvPr id="77" name="Text 26">
            <a:extLst>
              <a:ext uri="{FF2B5EF4-FFF2-40B4-BE49-F238E27FC236}">
                <a16:creationId xmlns:a16="http://schemas.microsoft.com/office/drawing/2014/main" id="{92D3D556-CB59-3054-AB0E-E676B8417D27}"/>
              </a:ext>
            </a:extLst>
          </p:cNvPr>
          <p:cNvSpPr/>
          <p:nvPr/>
        </p:nvSpPr>
        <p:spPr>
          <a:xfrm>
            <a:off x="4760746" y="3793563"/>
            <a:ext cx="1536192" cy="502920"/>
          </a:xfrm>
          <a:prstGeom prst="rect">
            <a:avLst/>
          </a:prstGeom>
          <a:noFill/>
          <a:ln/>
        </p:spPr>
        <p:txBody>
          <a:bodyPr wrap="square" rtlCol="0" anchor="ctr"/>
          <a:lstStyle/>
          <a:p>
            <a:pPr marL="0" indent="0" algn="ctr">
              <a:buNone/>
            </a:pPr>
            <a:r>
              <a:rPr lang="en-US" sz="850" dirty="0">
                <a:solidFill>
                  <a:srgbClr val="FFFFFF"/>
                </a:solidFill>
              </a:rPr>
              <a:t>No transform</a:t>
            </a:r>
            <a:endParaRPr lang="en-US" sz="850" dirty="0"/>
          </a:p>
          <a:p>
            <a:pPr marL="0" indent="0" algn="ctr">
              <a:buNone/>
            </a:pPr>
            <a:r>
              <a:rPr lang="en-US" sz="850" dirty="0">
                <a:solidFill>
                  <a:srgbClr val="FFFFFF"/>
                </a:solidFill>
              </a:rPr>
              <a:t>As-is load</a:t>
            </a:r>
            <a:endParaRPr lang="en-US" sz="850" dirty="0"/>
          </a:p>
        </p:txBody>
      </p:sp>
      <p:sp>
        <p:nvSpPr>
          <p:cNvPr id="78" name="Text 27">
            <a:extLst>
              <a:ext uri="{FF2B5EF4-FFF2-40B4-BE49-F238E27FC236}">
                <a16:creationId xmlns:a16="http://schemas.microsoft.com/office/drawing/2014/main" id="{E37E2BF4-B4F9-CDA8-D0A1-249B19D67356}"/>
              </a:ext>
            </a:extLst>
          </p:cNvPr>
          <p:cNvSpPr/>
          <p:nvPr/>
        </p:nvSpPr>
        <p:spPr>
          <a:xfrm>
            <a:off x="4619014" y="3628971"/>
            <a:ext cx="164592" cy="292608"/>
          </a:xfrm>
          <a:prstGeom prst="rect">
            <a:avLst/>
          </a:prstGeom>
          <a:noFill/>
          <a:ln/>
        </p:spPr>
        <p:txBody>
          <a:bodyPr wrap="square" lIns="0" tIns="0" rIns="0" bIns="0" rtlCol="0" anchor="ctr"/>
          <a:lstStyle/>
          <a:p>
            <a:pPr marL="0" indent="0" algn="ctr">
              <a:buNone/>
            </a:pPr>
            <a:r>
              <a:rPr lang="en-US" sz="1200" dirty="0">
                <a:solidFill>
                  <a:srgbClr val="0E9AA7"/>
                </a:solidFill>
              </a:rPr>
              <a:t>→</a:t>
            </a:r>
            <a:endParaRPr lang="en-US" sz="1200" dirty="0"/>
          </a:p>
        </p:txBody>
      </p:sp>
      <p:sp>
        <p:nvSpPr>
          <p:cNvPr id="79" name="Shape 28">
            <a:extLst>
              <a:ext uri="{FF2B5EF4-FFF2-40B4-BE49-F238E27FC236}">
                <a16:creationId xmlns:a16="http://schemas.microsoft.com/office/drawing/2014/main" id="{04A1279E-AF7B-3B44-93F2-A430DD534922}"/>
              </a:ext>
            </a:extLst>
          </p:cNvPr>
          <p:cNvSpPr/>
          <p:nvPr/>
        </p:nvSpPr>
        <p:spPr>
          <a:xfrm>
            <a:off x="3078250" y="3244923"/>
            <a:ext cx="1536192" cy="1143000"/>
          </a:xfrm>
          <a:prstGeom prst="rect">
            <a:avLst/>
          </a:prstGeom>
          <a:solidFill>
            <a:srgbClr val="F39C12"/>
          </a:solidFill>
          <a:ln w="12700">
            <a:solidFill>
              <a:srgbClr val="F39C12"/>
            </a:solidFill>
            <a:prstDash val="solid"/>
          </a:ln>
          <a:effectLst>
            <a:outerShdw blurRad="101600" dist="38100" dir="8100000" algn="bl" rotWithShape="0">
              <a:srgbClr val="000000">
                <a:alpha val="18000"/>
              </a:srgbClr>
            </a:outerShdw>
          </a:effectLst>
        </p:spPr>
        <p:txBody>
          <a:bodyPr/>
          <a:lstStyle/>
          <a:p>
            <a:endParaRPr lang="en-US"/>
          </a:p>
        </p:txBody>
      </p:sp>
      <p:sp>
        <p:nvSpPr>
          <p:cNvPr id="80" name="Text 29">
            <a:extLst>
              <a:ext uri="{FF2B5EF4-FFF2-40B4-BE49-F238E27FC236}">
                <a16:creationId xmlns:a16="http://schemas.microsoft.com/office/drawing/2014/main" id="{752B690C-3FFD-98C8-E8BF-234995D656F6}"/>
              </a:ext>
            </a:extLst>
          </p:cNvPr>
          <p:cNvSpPr/>
          <p:nvPr/>
        </p:nvSpPr>
        <p:spPr>
          <a:xfrm>
            <a:off x="3078250" y="3290643"/>
            <a:ext cx="1536192" cy="292608"/>
          </a:xfrm>
          <a:prstGeom prst="rect">
            <a:avLst/>
          </a:prstGeom>
          <a:noFill/>
          <a:ln/>
        </p:spPr>
        <p:txBody>
          <a:bodyPr wrap="square" rtlCol="0" anchor="ctr"/>
          <a:lstStyle/>
          <a:p>
            <a:pPr marL="0" indent="0" algn="ctr">
              <a:buNone/>
            </a:pPr>
            <a:r>
              <a:rPr lang="en-US" sz="1000" b="1" dirty="0">
                <a:solidFill>
                  <a:srgbClr val="FFFFFF"/>
                </a:solidFill>
              </a:rPr>
              <a:t>QUALITY</a:t>
            </a:r>
            <a:endParaRPr lang="en-US" sz="1000" dirty="0"/>
          </a:p>
        </p:txBody>
      </p:sp>
      <p:sp>
        <p:nvSpPr>
          <p:cNvPr id="81" name="Text 30">
            <a:extLst>
              <a:ext uri="{FF2B5EF4-FFF2-40B4-BE49-F238E27FC236}">
                <a16:creationId xmlns:a16="http://schemas.microsoft.com/office/drawing/2014/main" id="{1E840FEF-C43F-9BA6-FAF6-36AE0D32F730}"/>
              </a:ext>
            </a:extLst>
          </p:cNvPr>
          <p:cNvSpPr/>
          <p:nvPr/>
        </p:nvSpPr>
        <p:spPr>
          <a:xfrm>
            <a:off x="3078250" y="3574107"/>
            <a:ext cx="1536192" cy="228600"/>
          </a:xfrm>
          <a:prstGeom prst="rect">
            <a:avLst/>
          </a:prstGeom>
          <a:noFill/>
          <a:ln/>
        </p:spPr>
        <p:txBody>
          <a:bodyPr wrap="square" rtlCol="0" anchor="ctr"/>
          <a:lstStyle/>
          <a:p>
            <a:pPr marL="0" indent="0" algn="ctr">
              <a:buNone/>
            </a:pPr>
            <a:r>
              <a:rPr lang="en-US" sz="900" i="1" dirty="0">
                <a:solidFill>
                  <a:srgbClr val="FFFFFF"/>
                </a:solidFill>
              </a:rPr>
              <a:t>Soda</a:t>
            </a:r>
            <a:endParaRPr lang="en-US" sz="900" dirty="0"/>
          </a:p>
        </p:txBody>
      </p:sp>
      <p:sp>
        <p:nvSpPr>
          <p:cNvPr id="82" name="Text 31">
            <a:extLst>
              <a:ext uri="{FF2B5EF4-FFF2-40B4-BE49-F238E27FC236}">
                <a16:creationId xmlns:a16="http://schemas.microsoft.com/office/drawing/2014/main" id="{D56AFA24-F78C-9066-0698-91231A3118FA}"/>
              </a:ext>
            </a:extLst>
          </p:cNvPr>
          <p:cNvSpPr/>
          <p:nvPr/>
        </p:nvSpPr>
        <p:spPr>
          <a:xfrm>
            <a:off x="3078250" y="3793563"/>
            <a:ext cx="1536192" cy="502920"/>
          </a:xfrm>
          <a:prstGeom prst="rect">
            <a:avLst/>
          </a:prstGeom>
          <a:noFill/>
          <a:ln/>
        </p:spPr>
        <p:txBody>
          <a:bodyPr wrap="square" rtlCol="0" anchor="ctr"/>
          <a:lstStyle/>
          <a:p>
            <a:pPr marL="0" indent="0" algn="ctr">
              <a:buNone/>
            </a:pPr>
            <a:r>
              <a:rPr lang="en-US" sz="850" dirty="0">
                <a:solidFill>
                  <a:srgbClr val="FFFFFF"/>
                </a:solidFill>
              </a:rPr>
              <a:t>Nulls · Dupes</a:t>
            </a:r>
            <a:endParaRPr lang="en-US" sz="850" dirty="0"/>
          </a:p>
          <a:p>
            <a:pPr marL="0" indent="0" algn="ctr">
              <a:buNone/>
            </a:pPr>
            <a:r>
              <a:rPr lang="en-US" sz="850" dirty="0">
                <a:solidFill>
                  <a:srgbClr val="FFFFFF"/>
                </a:solidFill>
              </a:rPr>
              <a:t>Schema checks</a:t>
            </a:r>
            <a:endParaRPr lang="en-US" sz="850" dirty="0"/>
          </a:p>
        </p:txBody>
      </p:sp>
      <p:sp>
        <p:nvSpPr>
          <p:cNvPr id="83" name="Text 32">
            <a:extLst>
              <a:ext uri="{FF2B5EF4-FFF2-40B4-BE49-F238E27FC236}">
                <a16:creationId xmlns:a16="http://schemas.microsoft.com/office/drawing/2014/main" id="{FAE2FD56-706B-C5AC-FEFF-0011D7AACEEA}"/>
              </a:ext>
            </a:extLst>
          </p:cNvPr>
          <p:cNvSpPr/>
          <p:nvPr/>
        </p:nvSpPr>
        <p:spPr>
          <a:xfrm>
            <a:off x="6283222" y="3628971"/>
            <a:ext cx="164592" cy="292608"/>
          </a:xfrm>
          <a:prstGeom prst="rect">
            <a:avLst/>
          </a:prstGeom>
          <a:noFill/>
          <a:ln/>
        </p:spPr>
        <p:txBody>
          <a:bodyPr wrap="square" lIns="0" tIns="0" rIns="0" bIns="0" rtlCol="0" anchor="ctr"/>
          <a:lstStyle/>
          <a:p>
            <a:pPr marL="0" indent="0" algn="ctr">
              <a:buNone/>
            </a:pPr>
            <a:r>
              <a:rPr lang="en-US" sz="1200" dirty="0">
                <a:solidFill>
                  <a:srgbClr val="0E9AA7"/>
                </a:solidFill>
              </a:rPr>
              <a:t>→</a:t>
            </a:r>
            <a:endParaRPr lang="en-US" sz="1200" dirty="0"/>
          </a:p>
        </p:txBody>
      </p:sp>
      <p:sp>
        <p:nvSpPr>
          <p:cNvPr id="84" name="Shape 33">
            <a:extLst>
              <a:ext uri="{FF2B5EF4-FFF2-40B4-BE49-F238E27FC236}">
                <a16:creationId xmlns:a16="http://schemas.microsoft.com/office/drawing/2014/main" id="{98025B39-5E5A-94CF-1F91-E9C2A83D6159}"/>
              </a:ext>
            </a:extLst>
          </p:cNvPr>
          <p:cNvSpPr/>
          <p:nvPr/>
        </p:nvSpPr>
        <p:spPr>
          <a:xfrm>
            <a:off x="6402094" y="3244923"/>
            <a:ext cx="1536192" cy="1143000"/>
          </a:xfrm>
          <a:prstGeom prst="rect">
            <a:avLst/>
          </a:prstGeom>
          <a:solidFill>
            <a:srgbClr val="1B6CA8"/>
          </a:solidFill>
          <a:ln w="12700">
            <a:solidFill>
              <a:srgbClr val="1B6CA8"/>
            </a:solidFill>
            <a:prstDash val="solid"/>
          </a:ln>
          <a:effectLst>
            <a:outerShdw blurRad="101600" dist="38100" dir="8100000" algn="bl" rotWithShape="0">
              <a:srgbClr val="000000">
                <a:alpha val="18000"/>
              </a:srgbClr>
            </a:outerShdw>
          </a:effectLst>
        </p:spPr>
        <p:txBody>
          <a:bodyPr/>
          <a:lstStyle/>
          <a:p>
            <a:endParaRPr lang="en-US"/>
          </a:p>
        </p:txBody>
      </p:sp>
      <p:sp>
        <p:nvSpPr>
          <p:cNvPr id="85" name="Text 34">
            <a:extLst>
              <a:ext uri="{FF2B5EF4-FFF2-40B4-BE49-F238E27FC236}">
                <a16:creationId xmlns:a16="http://schemas.microsoft.com/office/drawing/2014/main" id="{22654E54-7AB7-4D0C-0EA0-B9005169313F}"/>
              </a:ext>
            </a:extLst>
          </p:cNvPr>
          <p:cNvSpPr/>
          <p:nvPr/>
        </p:nvSpPr>
        <p:spPr>
          <a:xfrm>
            <a:off x="6402094" y="3290643"/>
            <a:ext cx="1536192" cy="292608"/>
          </a:xfrm>
          <a:prstGeom prst="rect">
            <a:avLst/>
          </a:prstGeom>
          <a:noFill/>
          <a:ln/>
        </p:spPr>
        <p:txBody>
          <a:bodyPr wrap="square" rtlCol="0" anchor="ctr"/>
          <a:lstStyle/>
          <a:p>
            <a:pPr marL="0" indent="0" algn="ctr">
              <a:buNone/>
            </a:pPr>
            <a:r>
              <a:rPr lang="en-US" sz="1000" b="1" dirty="0">
                <a:solidFill>
                  <a:srgbClr val="FFFFFF"/>
                </a:solidFill>
              </a:rPr>
              <a:t>STAGE</a:t>
            </a:r>
            <a:endParaRPr lang="en-US" sz="1000" dirty="0"/>
          </a:p>
        </p:txBody>
      </p:sp>
      <p:sp>
        <p:nvSpPr>
          <p:cNvPr id="86" name="Text 35">
            <a:extLst>
              <a:ext uri="{FF2B5EF4-FFF2-40B4-BE49-F238E27FC236}">
                <a16:creationId xmlns:a16="http://schemas.microsoft.com/office/drawing/2014/main" id="{58DB99C9-E7DE-9A57-BA5A-E65D7EC04741}"/>
              </a:ext>
            </a:extLst>
          </p:cNvPr>
          <p:cNvSpPr/>
          <p:nvPr/>
        </p:nvSpPr>
        <p:spPr>
          <a:xfrm>
            <a:off x="6402094" y="3574107"/>
            <a:ext cx="1536192" cy="228600"/>
          </a:xfrm>
          <a:prstGeom prst="rect">
            <a:avLst/>
          </a:prstGeom>
          <a:noFill/>
          <a:ln/>
        </p:spPr>
        <p:txBody>
          <a:bodyPr wrap="square" rtlCol="0" anchor="ctr"/>
          <a:lstStyle/>
          <a:p>
            <a:pPr marL="0" indent="0" algn="ctr">
              <a:buNone/>
            </a:pPr>
            <a:r>
              <a:rPr lang="en-US" sz="900" i="1" dirty="0">
                <a:solidFill>
                  <a:srgbClr val="FFFFFF"/>
                </a:solidFill>
              </a:rPr>
              <a:t>dbt</a:t>
            </a:r>
            <a:endParaRPr lang="en-US" sz="900" dirty="0"/>
          </a:p>
        </p:txBody>
      </p:sp>
      <p:sp>
        <p:nvSpPr>
          <p:cNvPr id="87" name="Text 36">
            <a:extLst>
              <a:ext uri="{FF2B5EF4-FFF2-40B4-BE49-F238E27FC236}">
                <a16:creationId xmlns:a16="http://schemas.microsoft.com/office/drawing/2014/main" id="{CDC70BF9-D8BE-B97E-B822-45315E91BFD6}"/>
              </a:ext>
            </a:extLst>
          </p:cNvPr>
          <p:cNvSpPr/>
          <p:nvPr/>
        </p:nvSpPr>
        <p:spPr>
          <a:xfrm>
            <a:off x="6402094" y="3793563"/>
            <a:ext cx="1536192" cy="502920"/>
          </a:xfrm>
          <a:prstGeom prst="rect">
            <a:avLst/>
          </a:prstGeom>
          <a:noFill/>
          <a:ln/>
        </p:spPr>
        <p:txBody>
          <a:bodyPr wrap="square" rtlCol="0" anchor="ctr"/>
          <a:lstStyle/>
          <a:p>
            <a:pPr marL="0" indent="0" algn="ctr">
              <a:buNone/>
            </a:pPr>
            <a:r>
              <a:rPr lang="en-US" sz="850" dirty="0">
                <a:solidFill>
                  <a:srgbClr val="FFFFFF"/>
                </a:solidFill>
              </a:rPr>
              <a:t>Transform</a:t>
            </a:r>
            <a:endParaRPr lang="en-US" sz="850" dirty="0"/>
          </a:p>
          <a:p>
            <a:pPr marL="0" indent="0" algn="ctr">
              <a:buNone/>
            </a:pPr>
            <a:r>
              <a:rPr lang="en-US" sz="850" dirty="0">
                <a:solidFill>
                  <a:srgbClr val="FFFFFF"/>
                </a:solidFill>
              </a:rPr>
              <a:t>+ Validations</a:t>
            </a:r>
            <a:endParaRPr lang="en-US" sz="850" dirty="0"/>
          </a:p>
        </p:txBody>
      </p:sp>
      <p:sp>
        <p:nvSpPr>
          <p:cNvPr id="88" name="Text 37">
            <a:extLst>
              <a:ext uri="{FF2B5EF4-FFF2-40B4-BE49-F238E27FC236}">
                <a16:creationId xmlns:a16="http://schemas.microsoft.com/office/drawing/2014/main" id="{E401BE1B-9EFF-B23D-0DCB-49C270C5FCFD}"/>
              </a:ext>
            </a:extLst>
          </p:cNvPr>
          <p:cNvSpPr/>
          <p:nvPr/>
        </p:nvSpPr>
        <p:spPr>
          <a:xfrm>
            <a:off x="7947430" y="3628971"/>
            <a:ext cx="164592" cy="292608"/>
          </a:xfrm>
          <a:prstGeom prst="rect">
            <a:avLst/>
          </a:prstGeom>
          <a:noFill/>
          <a:ln/>
        </p:spPr>
        <p:txBody>
          <a:bodyPr wrap="square" lIns="0" tIns="0" rIns="0" bIns="0" rtlCol="0" anchor="ctr"/>
          <a:lstStyle/>
          <a:p>
            <a:pPr marL="0" indent="0" algn="ctr">
              <a:buNone/>
            </a:pPr>
            <a:r>
              <a:rPr lang="en-US" sz="1200" dirty="0">
                <a:solidFill>
                  <a:srgbClr val="0E9AA7"/>
                </a:solidFill>
              </a:rPr>
              <a:t>→</a:t>
            </a:r>
            <a:endParaRPr lang="en-US" sz="1200" dirty="0"/>
          </a:p>
        </p:txBody>
      </p:sp>
      <p:sp>
        <p:nvSpPr>
          <p:cNvPr id="89" name="Shape 38">
            <a:extLst>
              <a:ext uri="{FF2B5EF4-FFF2-40B4-BE49-F238E27FC236}">
                <a16:creationId xmlns:a16="http://schemas.microsoft.com/office/drawing/2014/main" id="{229E70BB-18CC-4BAF-F3D9-3C2D01CE5E9F}"/>
              </a:ext>
            </a:extLst>
          </p:cNvPr>
          <p:cNvSpPr/>
          <p:nvPr/>
        </p:nvSpPr>
        <p:spPr>
          <a:xfrm>
            <a:off x="8066302" y="3244923"/>
            <a:ext cx="1536192" cy="1143000"/>
          </a:xfrm>
          <a:prstGeom prst="rect">
            <a:avLst/>
          </a:prstGeom>
          <a:solidFill>
            <a:srgbClr val="27AE60"/>
          </a:solidFill>
          <a:ln w="12700">
            <a:solidFill>
              <a:srgbClr val="27AE60"/>
            </a:solidFill>
            <a:prstDash val="solid"/>
          </a:ln>
          <a:effectLst>
            <a:outerShdw blurRad="101600" dist="38100" dir="8100000" algn="bl" rotWithShape="0">
              <a:srgbClr val="000000">
                <a:alpha val="18000"/>
              </a:srgbClr>
            </a:outerShdw>
          </a:effectLst>
        </p:spPr>
        <p:txBody>
          <a:bodyPr/>
          <a:lstStyle/>
          <a:p>
            <a:endParaRPr lang="en-US"/>
          </a:p>
        </p:txBody>
      </p:sp>
      <p:sp>
        <p:nvSpPr>
          <p:cNvPr id="90" name="Text 39">
            <a:extLst>
              <a:ext uri="{FF2B5EF4-FFF2-40B4-BE49-F238E27FC236}">
                <a16:creationId xmlns:a16="http://schemas.microsoft.com/office/drawing/2014/main" id="{E8D1E0DC-62DE-822D-7850-D96D4A018E4B}"/>
              </a:ext>
            </a:extLst>
          </p:cNvPr>
          <p:cNvSpPr/>
          <p:nvPr/>
        </p:nvSpPr>
        <p:spPr>
          <a:xfrm>
            <a:off x="8066302" y="3290643"/>
            <a:ext cx="1536192" cy="292608"/>
          </a:xfrm>
          <a:prstGeom prst="rect">
            <a:avLst/>
          </a:prstGeom>
          <a:noFill/>
          <a:ln/>
        </p:spPr>
        <p:txBody>
          <a:bodyPr wrap="square" rtlCol="0" anchor="ctr"/>
          <a:lstStyle/>
          <a:p>
            <a:pPr marL="0" indent="0" algn="ctr">
              <a:buNone/>
            </a:pPr>
            <a:r>
              <a:rPr lang="en-US" sz="1000" b="1" dirty="0">
                <a:solidFill>
                  <a:srgbClr val="FFFFFF"/>
                </a:solidFill>
              </a:rPr>
              <a:t>REPORT</a:t>
            </a:r>
            <a:endParaRPr lang="en-US" sz="1000" dirty="0"/>
          </a:p>
        </p:txBody>
      </p:sp>
      <p:sp>
        <p:nvSpPr>
          <p:cNvPr id="91" name="Text 40">
            <a:extLst>
              <a:ext uri="{FF2B5EF4-FFF2-40B4-BE49-F238E27FC236}">
                <a16:creationId xmlns:a16="http://schemas.microsoft.com/office/drawing/2014/main" id="{07A99881-F8AB-22D2-A9B5-E0C66BCCB0DD}"/>
              </a:ext>
            </a:extLst>
          </p:cNvPr>
          <p:cNvSpPr/>
          <p:nvPr/>
        </p:nvSpPr>
        <p:spPr>
          <a:xfrm>
            <a:off x="8066302" y="3574107"/>
            <a:ext cx="1536192" cy="228600"/>
          </a:xfrm>
          <a:prstGeom prst="rect">
            <a:avLst/>
          </a:prstGeom>
          <a:noFill/>
          <a:ln/>
        </p:spPr>
        <p:txBody>
          <a:bodyPr wrap="square" rtlCol="0" anchor="ctr"/>
          <a:lstStyle/>
          <a:p>
            <a:pPr marL="0" indent="0" algn="ctr">
              <a:buNone/>
            </a:pPr>
            <a:r>
              <a:rPr lang="en-US" sz="900" i="1" dirty="0">
                <a:solidFill>
                  <a:srgbClr val="FFFFFF"/>
                </a:solidFill>
              </a:rPr>
              <a:t>Snowflake</a:t>
            </a:r>
            <a:endParaRPr lang="en-US" sz="900" dirty="0"/>
          </a:p>
        </p:txBody>
      </p:sp>
      <p:sp>
        <p:nvSpPr>
          <p:cNvPr id="92" name="Text 41">
            <a:extLst>
              <a:ext uri="{FF2B5EF4-FFF2-40B4-BE49-F238E27FC236}">
                <a16:creationId xmlns:a16="http://schemas.microsoft.com/office/drawing/2014/main" id="{DE547A53-A29A-93C3-05D1-B86F211B99A4}"/>
              </a:ext>
            </a:extLst>
          </p:cNvPr>
          <p:cNvSpPr/>
          <p:nvPr/>
        </p:nvSpPr>
        <p:spPr>
          <a:xfrm>
            <a:off x="8066302" y="3793563"/>
            <a:ext cx="1536192" cy="502920"/>
          </a:xfrm>
          <a:prstGeom prst="rect">
            <a:avLst/>
          </a:prstGeom>
          <a:noFill/>
          <a:ln/>
        </p:spPr>
        <p:txBody>
          <a:bodyPr wrap="square" rtlCol="0" anchor="ctr"/>
          <a:lstStyle/>
          <a:p>
            <a:pPr marL="0" indent="0" algn="ctr">
              <a:buNone/>
            </a:pPr>
            <a:r>
              <a:rPr lang="en-US" sz="850" dirty="0">
                <a:solidFill>
                  <a:srgbClr val="FFFFFF"/>
                </a:solidFill>
              </a:rPr>
              <a:t>BI-ready</a:t>
            </a:r>
            <a:endParaRPr lang="en-US" sz="850" dirty="0"/>
          </a:p>
          <a:p>
            <a:pPr marL="0" indent="0" algn="ctr">
              <a:buNone/>
            </a:pPr>
            <a:r>
              <a:rPr lang="en-US" sz="850" dirty="0">
                <a:solidFill>
                  <a:srgbClr val="FFFFFF"/>
                </a:solidFill>
              </a:rPr>
              <a:t>End users</a:t>
            </a:r>
            <a:endParaRPr lang="en-US" sz="850" dirty="0"/>
          </a:p>
        </p:txBody>
      </p:sp>
      <p:sp>
        <p:nvSpPr>
          <p:cNvPr id="93" name="Shape 39">
            <a:extLst>
              <a:ext uri="{FF2B5EF4-FFF2-40B4-BE49-F238E27FC236}">
                <a16:creationId xmlns:a16="http://schemas.microsoft.com/office/drawing/2014/main" id="{685EA9CF-8B5B-6C76-204B-8EF761837605}"/>
              </a:ext>
            </a:extLst>
          </p:cNvPr>
          <p:cNvSpPr/>
          <p:nvPr/>
        </p:nvSpPr>
        <p:spPr>
          <a:xfrm>
            <a:off x="1343413" y="5007045"/>
            <a:ext cx="6038462" cy="1417795"/>
          </a:xfrm>
          <a:prstGeom prst="roundRect">
            <a:avLst>
              <a:gd name="adj" fmla="val 2500"/>
            </a:avLst>
          </a:prstGeom>
          <a:solidFill>
            <a:srgbClr val="FFFFFF"/>
          </a:solidFill>
          <a:ln w="12700">
            <a:solidFill>
              <a:srgbClr val="CADCFC"/>
            </a:solidFill>
            <a:prstDash val="solid"/>
          </a:ln>
        </p:spPr>
        <p:txBody>
          <a:bodyPr/>
          <a:lstStyle/>
          <a:p>
            <a:endParaRPr lang="en-US" dirty="0"/>
          </a:p>
        </p:txBody>
      </p:sp>
      <p:sp>
        <p:nvSpPr>
          <p:cNvPr id="94" name="Text 40">
            <a:extLst>
              <a:ext uri="{FF2B5EF4-FFF2-40B4-BE49-F238E27FC236}">
                <a16:creationId xmlns:a16="http://schemas.microsoft.com/office/drawing/2014/main" id="{ECB34946-DFB2-D071-7AEB-4B653A3914A2}"/>
              </a:ext>
            </a:extLst>
          </p:cNvPr>
          <p:cNvSpPr/>
          <p:nvPr/>
        </p:nvSpPr>
        <p:spPr>
          <a:xfrm>
            <a:off x="217584" y="4772878"/>
            <a:ext cx="8466570" cy="172586"/>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Design Principles</a:t>
            </a:r>
            <a:endParaRPr lang="en-US" sz="1400" dirty="0"/>
          </a:p>
        </p:txBody>
      </p:sp>
      <p:sp>
        <p:nvSpPr>
          <p:cNvPr id="95" name="Shape 41">
            <a:extLst>
              <a:ext uri="{FF2B5EF4-FFF2-40B4-BE49-F238E27FC236}">
                <a16:creationId xmlns:a16="http://schemas.microsoft.com/office/drawing/2014/main" id="{7D20ED6F-DE2E-A580-5622-D36D27A8E6DD}"/>
              </a:ext>
            </a:extLst>
          </p:cNvPr>
          <p:cNvSpPr/>
          <p:nvPr/>
        </p:nvSpPr>
        <p:spPr>
          <a:xfrm>
            <a:off x="1369042" y="5159877"/>
            <a:ext cx="55668" cy="1183446"/>
          </a:xfrm>
          <a:prstGeom prst="rect">
            <a:avLst/>
          </a:prstGeom>
          <a:solidFill>
            <a:srgbClr val="F96167"/>
          </a:solidFill>
          <a:ln/>
        </p:spPr>
        <p:txBody>
          <a:bodyPr/>
          <a:lstStyle/>
          <a:p>
            <a:endParaRPr lang="en-US"/>
          </a:p>
        </p:txBody>
      </p:sp>
      <p:sp>
        <p:nvSpPr>
          <p:cNvPr id="96" name="Text 42">
            <a:extLst>
              <a:ext uri="{FF2B5EF4-FFF2-40B4-BE49-F238E27FC236}">
                <a16:creationId xmlns:a16="http://schemas.microsoft.com/office/drawing/2014/main" id="{16040BB6-1A5F-B553-2B16-65AA3ABDC398}"/>
              </a:ext>
            </a:extLst>
          </p:cNvPr>
          <p:cNvSpPr/>
          <p:nvPr/>
        </p:nvSpPr>
        <p:spPr>
          <a:xfrm>
            <a:off x="1423923" y="5037579"/>
            <a:ext cx="2448364" cy="19724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Decoupled Layers</a:t>
            </a:r>
            <a:endParaRPr lang="en-US" sz="1300" dirty="0"/>
          </a:p>
        </p:txBody>
      </p:sp>
      <p:sp>
        <p:nvSpPr>
          <p:cNvPr id="97" name="Text 43">
            <a:extLst>
              <a:ext uri="{FF2B5EF4-FFF2-40B4-BE49-F238E27FC236}">
                <a16:creationId xmlns:a16="http://schemas.microsoft.com/office/drawing/2014/main" id="{A80ED4BF-FD45-F469-4343-4F18A6F8A9A5}"/>
              </a:ext>
            </a:extLst>
          </p:cNvPr>
          <p:cNvSpPr/>
          <p:nvPr/>
        </p:nvSpPr>
        <p:spPr>
          <a:xfrm>
            <a:off x="1444457" y="5659326"/>
            <a:ext cx="2405413" cy="936896"/>
          </a:xfrm>
          <a:prstGeom prst="rect">
            <a:avLst/>
          </a:prstGeom>
          <a:noFill/>
          <a:ln/>
        </p:spPr>
        <p:txBody>
          <a:bodyPr wrap="square" rtlCol="0" anchor="t"/>
          <a:lstStyle/>
          <a:p>
            <a:pPr marL="0" indent="0">
              <a:buNone/>
            </a:pPr>
            <a:r>
              <a:rPr lang="en-US" sz="1100" dirty="0">
                <a:solidFill>
                  <a:srgbClr val="0F1A3D"/>
                </a:solidFill>
                <a:latin typeface="Calibri" pitchFamily="34" charset="0"/>
                <a:ea typeface="Calibri" pitchFamily="34" charset="-122"/>
                <a:cs typeface="Calibri" pitchFamily="34" charset="-120"/>
              </a:rPr>
              <a:t>Each schema (RAW → STAGE → REPORTING) has a single responsibility and clear contract.</a:t>
            </a:r>
            <a:endParaRPr lang="en-US" sz="1100" dirty="0"/>
          </a:p>
        </p:txBody>
      </p:sp>
      <p:sp>
        <p:nvSpPr>
          <p:cNvPr id="98" name="Shape 44">
            <a:extLst>
              <a:ext uri="{FF2B5EF4-FFF2-40B4-BE49-F238E27FC236}">
                <a16:creationId xmlns:a16="http://schemas.microsoft.com/office/drawing/2014/main" id="{3C582822-44AE-1B34-477D-987A08481FF3}"/>
              </a:ext>
            </a:extLst>
          </p:cNvPr>
          <p:cNvSpPr/>
          <p:nvPr/>
        </p:nvSpPr>
        <p:spPr>
          <a:xfrm>
            <a:off x="4096512" y="5159877"/>
            <a:ext cx="55668" cy="1183446"/>
          </a:xfrm>
          <a:prstGeom prst="rect">
            <a:avLst/>
          </a:prstGeom>
          <a:solidFill>
            <a:srgbClr val="F96167"/>
          </a:solidFill>
          <a:ln/>
        </p:spPr>
        <p:txBody>
          <a:bodyPr/>
          <a:lstStyle/>
          <a:p>
            <a:endParaRPr lang="en-US"/>
          </a:p>
        </p:txBody>
      </p:sp>
      <p:sp>
        <p:nvSpPr>
          <p:cNvPr id="99" name="Text 45">
            <a:extLst>
              <a:ext uri="{FF2B5EF4-FFF2-40B4-BE49-F238E27FC236}">
                <a16:creationId xmlns:a16="http://schemas.microsoft.com/office/drawing/2014/main" id="{3DAF8A66-6B49-A334-FA33-925C3834D69A}"/>
              </a:ext>
            </a:extLst>
          </p:cNvPr>
          <p:cNvSpPr/>
          <p:nvPr/>
        </p:nvSpPr>
        <p:spPr>
          <a:xfrm>
            <a:off x="4190975" y="5060924"/>
            <a:ext cx="2448364" cy="19724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Quality Gates</a:t>
            </a:r>
            <a:endParaRPr lang="en-US" sz="1300" dirty="0"/>
          </a:p>
        </p:txBody>
      </p:sp>
      <p:sp>
        <p:nvSpPr>
          <p:cNvPr id="100" name="Text 46">
            <a:extLst>
              <a:ext uri="{FF2B5EF4-FFF2-40B4-BE49-F238E27FC236}">
                <a16:creationId xmlns:a16="http://schemas.microsoft.com/office/drawing/2014/main" id="{AF1C16C0-F457-EC0E-800A-3DB7978E35ED}"/>
              </a:ext>
            </a:extLst>
          </p:cNvPr>
          <p:cNvSpPr/>
          <p:nvPr/>
        </p:nvSpPr>
        <p:spPr>
          <a:xfrm>
            <a:off x="4233377" y="5659326"/>
            <a:ext cx="2405413" cy="936896"/>
          </a:xfrm>
          <a:prstGeom prst="rect">
            <a:avLst/>
          </a:prstGeom>
          <a:noFill/>
          <a:ln/>
        </p:spPr>
        <p:txBody>
          <a:bodyPr wrap="square" rtlCol="0" anchor="t"/>
          <a:lstStyle/>
          <a:p>
            <a:pPr marL="0" indent="0">
              <a:buNone/>
            </a:pPr>
            <a:r>
              <a:rPr lang="en-US" sz="1100" dirty="0">
                <a:solidFill>
                  <a:srgbClr val="0F1A3D"/>
                </a:solidFill>
                <a:latin typeface="Calibri" pitchFamily="34" charset="0"/>
                <a:ea typeface="Calibri" pitchFamily="34" charset="-122"/>
                <a:cs typeface="Calibri" pitchFamily="34" charset="-120"/>
              </a:rPr>
              <a:t>Soda validates RAW; dbt tests + business rules guard STAGE before publishing.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96167"/>
          </a:solidFill>
          <a:ln/>
        </p:spPr>
        <p:txBody>
          <a:bodyPr/>
          <a:lstStyle/>
          <a:p>
            <a:endParaRPr lang="en-US"/>
          </a:p>
        </p:txBody>
      </p:sp>
      <p:sp>
        <p:nvSpPr>
          <p:cNvPr id="3" name="Text 1"/>
          <p:cNvSpPr/>
          <p:nvPr/>
        </p:nvSpPr>
        <p:spPr>
          <a:xfrm>
            <a:off x="457200" y="228600"/>
            <a:ext cx="10972800" cy="274320"/>
          </a:xfrm>
          <a:prstGeom prst="rect">
            <a:avLst/>
          </a:prstGeom>
          <a:noFill/>
          <a:ln/>
        </p:spPr>
        <p:txBody>
          <a:bodyPr wrap="square"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LAYERS 1–2</a:t>
            </a:r>
            <a:endParaRPr lang="en-US" sz="1100" dirty="0"/>
          </a:p>
        </p:txBody>
      </p:sp>
      <p:sp>
        <p:nvSpPr>
          <p:cNvPr id="4" name="Text 2"/>
          <p:cNvSpPr/>
          <p:nvPr/>
        </p:nvSpPr>
        <p:spPr>
          <a:xfrm>
            <a:off x="457200" y="502920"/>
            <a:ext cx="10972800" cy="64008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Ingestion, Raw Zone &amp; Data Quality</a:t>
            </a:r>
            <a:endParaRPr lang="en-US" sz="3000" dirty="0"/>
          </a:p>
        </p:txBody>
      </p:sp>
      <p:sp>
        <p:nvSpPr>
          <p:cNvPr id="5" name="Shape 3"/>
          <p:cNvSpPr/>
          <p:nvPr/>
        </p:nvSpPr>
        <p:spPr>
          <a:xfrm>
            <a:off x="457200" y="1188720"/>
            <a:ext cx="1097280" cy="0"/>
          </a:xfrm>
          <a:prstGeom prst="line">
            <a:avLst/>
          </a:prstGeom>
          <a:noFill/>
          <a:ln w="25400">
            <a:solidFill>
              <a:srgbClr val="1E2761"/>
            </a:solidFill>
            <a:prstDash val="solid"/>
          </a:ln>
        </p:spPr>
        <p:txBody>
          <a:bodyPr/>
          <a:lstStyle/>
          <a:p>
            <a:endParaRPr lang="en-US"/>
          </a:p>
        </p:txBody>
      </p:sp>
      <p:sp>
        <p:nvSpPr>
          <p:cNvPr id="6" name="Shape 4"/>
          <p:cNvSpPr/>
          <p:nvPr/>
        </p:nvSpPr>
        <p:spPr>
          <a:xfrm>
            <a:off x="365760" y="1554480"/>
            <a:ext cx="3657600" cy="4754880"/>
          </a:xfrm>
          <a:prstGeom prst="roundRect">
            <a:avLst>
              <a:gd name="adj" fmla="val 2000"/>
            </a:avLst>
          </a:prstGeom>
          <a:solidFill>
            <a:srgbClr val="FFFFFF"/>
          </a:solidFill>
          <a:ln w="19050">
            <a:solidFill>
              <a:srgbClr val="1E2761"/>
            </a:solidFill>
            <a:prstDash val="solid"/>
          </a:ln>
        </p:spPr>
        <p:txBody>
          <a:bodyPr/>
          <a:lstStyle/>
          <a:p>
            <a:endParaRPr lang="en-US"/>
          </a:p>
        </p:txBody>
      </p:sp>
      <p:sp>
        <p:nvSpPr>
          <p:cNvPr id="7" name="Shape 5"/>
          <p:cNvSpPr/>
          <p:nvPr/>
        </p:nvSpPr>
        <p:spPr>
          <a:xfrm>
            <a:off x="365760" y="1554480"/>
            <a:ext cx="3657600" cy="457200"/>
          </a:xfrm>
          <a:prstGeom prst="rect">
            <a:avLst/>
          </a:prstGeom>
          <a:solidFill>
            <a:srgbClr val="1E2761"/>
          </a:solidFill>
          <a:ln/>
        </p:spPr>
        <p:txBody>
          <a:bodyPr/>
          <a:lstStyle/>
          <a:p>
            <a:endParaRPr lang="en-US"/>
          </a:p>
        </p:txBody>
      </p:sp>
      <p:sp>
        <p:nvSpPr>
          <p:cNvPr id="8" name="Text 6"/>
          <p:cNvSpPr/>
          <p:nvPr/>
        </p:nvSpPr>
        <p:spPr>
          <a:xfrm>
            <a:off x="365760" y="1554480"/>
            <a:ext cx="365760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1 · INGESTION</a:t>
            </a:r>
            <a:endParaRPr lang="en-US" sz="1300" dirty="0"/>
          </a:p>
        </p:txBody>
      </p:sp>
      <p:sp>
        <p:nvSpPr>
          <p:cNvPr id="9" name="Shape 7"/>
          <p:cNvSpPr/>
          <p:nvPr/>
        </p:nvSpPr>
        <p:spPr>
          <a:xfrm>
            <a:off x="731520" y="2286000"/>
            <a:ext cx="822960" cy="1005840"/>
          </a:xfrm>
          <a:prstGeom prst="rect">
            <a:avLst/>
          </a:prstGeom>
          <a:solidFill>
            <a:srgbClr val="CADCFC"/>
          </a:solidFill>
          <a:ln w="12700">
            <a:solidFill>
              <a:srgbClr val="1E2761"/>
            </a:solidFill>
            <a:prstDash val="solid"/>
          </a:ln>
        </p:spPr>
        <p:txBody>
          <a:bodyPr/>
          <a:lstStyle/>
          <a:p>
            <a:endParaRPr lang="en-US"/>
          </a:p>
        </p:txBody>
      </p:sp>
      <p:sp>
        <p:nvSpPr>
          <p:cNvPr id="10" name="Text 8"/>
          <p:cNvSpPr/>
          <p:nvPr/>
        </p:nvSpPr>
        <p:spPr>
          <a:xfrm>
            <a:off x="731520" y="2286000"/>
            <a:ext cx="822960" cy="100584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CSV</a:t>
            </a:r>
            <a:endParaRPr lang="en-US" sz="1400" dirty="0"/>
          </a:p>
        </p:txBody>
      </p:sp>
      <p:sp>
        <p:nvSpPr>
          <p:cNvPr id="11" name="Shape 9"/>
          <p:cNvSpPr/>
          <p:nvPr/>
        </p:nvSpPr>
        <p:spPr>
          <a:xfrm>
            <a:off x="1691640" y="2286000"/>
            <a:ext cx="822960" cy="1005840"/>
          </a:xfrm>
          <a:prstGeom prst="rect">
            <a:avLst/>
          </a:prstGeom>
          <a:solidFill>
            <a:srgbClr val="CADCFC"/>
          </a:solidFill>
          <a:ln w="12700">
            <a:solidFill>
              <a:srgbClr val="1E2761"/>
            </a:solidFill>
            <a:prstDash val="solid"/>
          </a:ln>
        </p:spPr>
        <p:txBody>
          <a:bodyPr/>
          <a:lstStyle/>
          <a:p>
            <a:endParaRPr lang="en-US"/>
          </a:p>
        </p:txBody>
      </p:sp>
      <p:sp>
        <p:nvSpPr>
          <p:cNvPr id="12" name="Text 10"/>
          <p:cNvSpPr/>
          <p:nvPr/>
        </p:nvSpPr>
        <p:spPr>
          <a:xfrm>
            <a:off x="1691640" y="2286000"/>
            <a:ext cx="822960" cy="100584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XLSX</a:t>
            </a:r>
            <a:endParaRPr lang="en-US" sz="1400" dirty="0"/>
          </a:p>
        </p:txBody>
      </p:sp>
      <p:sp>
        <p:nvSpPr>
          <p:cNvPr id="13" name="Text 11"/>
          <p:cNvSpPr/>
          <p:nvPr/>
        </p:nvSpPr>
        <p:spPr>
          <a:xfrm>
            <a:off x="457200" y="3383280"/>
            <a:ext cx="34747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Network / Shared Drives</a:t>
            </a:r>
            <a:endParaRPr lang="en-US" sz="1000" dirty="0"/>
          </a:p>
        </p:txBody>
      </p:sp>
      <p:sp>
        <p:nvSpPr>
          <p:cNvPr id="14" name="Shape 12"/>
          <p:cNvSpPr/>
          <p:nvPr/>
        </p:nvSpPr>
        <p:spPr>
          <a:xfrm>
            <a:off x="1828800" y="3703320"/>
            <a:ext cx="365760" cy="411480"/>
          </a:xfrm>
          <a:prstGeom prst="downArrow">
            <a:avLst/>
          </a:prstGeom>
          <a:solidFill>
            <a:srgbClr val="F96167"/>
          </a:solidFill>
          <a:ln/>
        </p:spPr>
        <p:txBody>
          <a:bodyPr/>
          <a:lstStyle/>
          <a:p>
            <a:endParaRPr lang="en-US"/>
          </a:p>
        </p:txBody>
      </p:sp>
      <p:sp>
        <p:nvSpPr>
          <p:cNvPr id="15" name="Shape 13"/>
          <p:cNvSpPr/>
          <p:nvPr/>
        </p:nvSpPr>
        <p:spPr>
          <a:xfrm>
            <a:off x="640080" y="4206240"/>
            <a:ext cx="3108960" cy="502920"/>
          </a:xfrm>
          <a:prstGeom prst="roundRect">
            <a:avLst>
              <a:gd name="adj" fmla="val 9091"/>
            </a:avLst>
          </a:prstGeom>
          <a:solidFill>
            <a:srgbClr val="1E2761"/>
          </a:solidFill>
          <a:ln/>
        </p:spPr>
        <p:txBody>
          <a:bodyPr/>
          <a:lstStyle/>
          <a:p>
            <a:endParaRPr lang="en-US"/>
          </a:p>
        </p:txBody>
      </p:sp>
      <p:sp>
        <p:nvSpPr>
          <p:cNvPr id="16" name="Text 14"/>
          <p:cNvSpPr/>
          <p:nvPr/>
        </p:nvSpPr>
        <p:spPr>
          <a:xfrm>
            <a:off x="640080" y="4206240"/>
            <a:ext cx="31089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Python  +  Snowflake Connector</a:t>
            </a:r>
            <a:endParaRPr lang="en-US" sz="1200" dirty="0"/>
          </a:p>
        </p:txBody>
      </p:sp>
      <p:sp>
        <p:nvSpPr>
          <p:cNvPr id="17" name="Text 15"/>
          <p:cNvSpPr/>
          <p:nvPr/>
        </p:nvSpPr>
        <p:spPr>
          <a:xfrm>
            <a:off x="640080" y="4846320"/>
            <a:ext cx="3291840" cy="1371600"/>
          </a:xfrm>
          <a:prstGeom prst="rect">
            <a:avLst/>
          </a:prstGeom>
          <a:noFill/>
          <a:ln/>
        </p:spPr>
        <p:txBody>
          <a:bodyPr wrap="square" rtlCol="0" anchor="ctr"/>
          <a:lstStyle/>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Reads files from mount points</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Writes verbatim into RAW schema</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No transformation — full fidelity</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Idempotent loads, audit columns</a:t>
            </a:r>
            <a:endParaRPr lang="en-US" sz="1100" dirty="0"/>
          </a:p>
        </p:txBody>
      </p:sp>
      <p:sp>
        <p:nvSpPr>
          <p:cNvPr id="18" name="Shape 16"/>
          <p:cNvSpPr/>
          <p:nvPr/>
        </p:nvSpPr>
        <p:spPr>
          <a:xfrm>
            <a:off x="4069080" y="3657600"/>
            <a:ext cx="411480" cy="457200"/>
          </a:xfrm>
          <a:prstGeom prst="rightArrow">
            <a:avLst/>
          </a:prstGeom>
          <a:solidFill>
            <a:srgbClr val="1E2761"/>
          </a:solidFill>
          <a:ln/>
        </p:spPr>
        <p:txBody>
          <a:bodyPr/>
          <a:lstStyle/>
          <a:p>
            <a:endParaRPr lang="en-US"/>
          </a:p>
        </p:txBody>
      </p:sp>
      <p:sp>
        <p:nvSpPr>
          <p:cNvPr id="19" name="Shape 17"/>
          <p:cNvSpPr/>
          <p:nvPr/>
        </p:nvSpPr>
        <p:spPr>
          <a:xfrm>
            <a:off x="4526280" y="1554480"/>
            <a:ext cx="3383280" cy="4754880"/>
          </a:xfrm>
          <a:prstGeom prst="roundRect">
            <a:avLst>
              <a:gd name="adj" fmla="val 2162"/>
            </a:avLst>
          </a:prstGeom>
          <a:solidFill>
            <a:srgbClr val="FFFFFF"/>
          </a:solidFill>
          <a:ln w="19050">
            <a:solidFill>
              <a:srgbClr val="8B5CF6"/>
            </a:solidFill>
            <a:prstDash val="solid"/>
          </a:ln>
        </p:spPr>
        <p:txBody>
          <a:bodyPr/>
          <a:lstStyle/>
          <a:p>
            <a:endParaRPr lang="en-US"/>
          </a:p>
        </p:txBody>
      </p:sp>
      <p:sp>
        <p:nvSpPr>
          <p:cNvPr id="20" name="Shape 18"/>
          <p:cNvSpPr/>
          <p:nvPr/>
        </p:nvSpPr>
        <p:spPr>
          <a:xfrm>
            <a:off x="4526280" y="1554480"/>
            <a:ext cx="3383280" cy="457200"/>
          </a:xfrm>
          <a:prstGeom prst="rect">
            <a:avLst/>
          </a:prstGeom>
          <a:solidFill>
            <a:srgbClr val="8B5CF6"/>
          </a:solidFill>
          <a:ln/>
        </p:spPr>
        <p:txBody>
          <a:bodyPr/>
          <a:lstStyle/>
          <a:p>
            <a:endParaRPr lang="en-US"/>
          </a:p>
        </p:txBody>
      </p:sp>
      <p:sp>
        <p:nvSpPr>
          <p:cNvPr id="21" name="Text 19"/>
          <p:cNvSpPr/>
          <p:nvPr/>
        </p:nvSpPr>
        <p:spPr>
          <a:xfrm>
            <a:off x="4526280" y="1554480"/>
            <a:ext cx="338328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2 · RAW ZONE</a:t>
            </a:r>
            <a:endParaRPr lang="en-US" sz="1300" dirty="0"/>
          </a:p>
        </p:txBody>
      </p:sp>
      <p:sp>
        <p:nvSpPr>
          <p:cNvPr id="22" name="Shape 20"/>
          <p:cNvSpPr/>
          <p:nvPr/>
        </p:nvSpPr>
        <p:spPr>
          <a:xfrm>
            <a:off x="5349240" y="2240280"/>
            <a:ext cx="1737360" cy="1280160"/>
          </a:xfrm>
          <a:prstGeom prst="roundRect">
            <a:avLst/>
          </a:prstGeom>
          <a:solidFill>
            <a:srgbClr val="CADCFC"/>
          </a:solidFill>
          <a:ln w="19050">
            <a:solidFill>
              <a:srgbClr val="8B5CF6"/>
            </a:solidFill>
            <a:prstDash val="solid"/>
          </a:ln>
        </p:spPr>
        <p:txBody>
          <a:bodyPr/>
          <a:lstStyle/>
          <a:p>
            <a:endParaRPr lang="en-US"/>
          </a:p>
        </p:txBody>
      </p:sp>
      <p:sp>
        <p:nvSpPr>
          <p:cNvPr id="23" name="Text 21"/>
          <p:cNvSpPr/>
          <p:nvPr/>
        </p:nvSpPr>
        <p:spPr>
          <a:xfrm>
            <a:off x="5349240" y="2240280"/>
            <a:ext cx="1737360" cy="1280160"/>
          </a:xfrm>
          <a:prstGeom prst="rect">
            <a:avLst/>
          </a:prstGeom>
          <a:noFill/>
          <a:ln/>
        </p:spPr>
        <p:txBody>
          <a:bodyPr wrap="square" rtlCol="0" anchor="ctr"/>
          <a:lstStyle/>
          <a:p>
            <a:pPr marL="0" indent="0" algn="ctr">
              <a:buNone/>
            </a:pPr>
            <a:r>
              <a:rPr lang="en-US" sz="1600" b="1" dirty="0">
                <a:solidFill>
                  <a:srgbClr val="8B5CF6"/>
                </a:solidFill>
                <a:latin typeface="Calibri" pitchFamily="34" charset="0"/>
                <a:ea typeface="Calibri" pitchFamily="34" charset="-122"/>
                <a:cs typeface="Calibri" pitchFamily="34" charset="-120"/>
              </a:rPr>
              <a:t>RAW.*</a:t>
            </a:r>
            <a:endParaRPr lang="en-US" sz="1600" dirty="0"/>
          </a:p>
        </p:txBody>
      </p:sp>
      <p:sp>
        <p:nvSpPr>
          <p:cNvPr id="24" name="Text 22"/>
          <p:cNvSpPr/>
          <p:nvPr/>
        </p:nvSpPr>
        <p:spPr>
          <a:xfrm>
            <a:off x="4709160" y="3749040"/>
            <a:ext cx="3108960" cy="1463040"/>
          </a:xfrm>
          <a:prstGeom prst="rect">
            <a:avLst/>
          </a:prstGeom>
          <a:noFill/>
          <a:ln/>
        </p:spPr>
        <p:txBody>
          <a:bodyPr wrap="square" rtlCol="0" anchor="ctr"/>
          <a:lstStyle/>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Mirror of source files (1:1)</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Immutable &amp; append-only</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Schema-on-read friendly</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Source of truth for replay</a:t>
            </a:r>
            <a:endParaRPr lang="en-US" sz="1100" dirty="0"/>
          </a:p>
        </p:txBody>
      </p:sp>
      <p:sp>
        <p:nvSpPr>
          <p:cNvPr id="25" name="Shape 23"/>
          <p:cNvSpPr/>
          <p:nvPr/>
        </p:nvSpPr>
        <p:spPr>
          <a:xfrm>
            <a:off x="4754880" y="5486400"/>
            <a:ext cx="2926080" cy="594360"/>
          </a:xfrm>
          <a:prstGeom prst="roundRect">
            <a:avLst>
              <a:gd name="adj" fmla="val 7692"/>
            </a:avLst>
          </a:prstGeom>
          <a:solidFill>
            <a:srgbClr val="F5F7FB"/>
          </a:solidFill>
          <a:ln w="12700">
            <a:solidFill>
              <a:srgbClr val="8B5CF6"/>
            </a:solidFill>
            <a:prstDash val="solid"/>
          </a:ln>
        </p:spPr>
        <p:txBody>
          <a:bodyPr/>
          <a:lstStyle/>
          <a:p>
            <a:endParaRPr lang="en-US"/>
          </a:p>
        </p:txBody>
      </p:sp>
      <p:sp>
        <p:nvSpPr>
          <p:cNvPr id="26" name="Text 24"/>
          <p:cNvSpPr/>
          <p:nvPr/>
        </p:nvSpPr>
        <p:spPr>
          <a:xfrm>
            <a:off x="4754880" y="5486400"/>
            <a:ext cx="2926080" cy="594360"/>
          </a:xfrm>
          <a:prstGeom prst="rect">
            <a:avLst/>
          </a:prstGeom>
          <a:noFill/>
          <a:ln/>
        </p:spPr>
        <p:txBody>
          <a:bodyPr wrap="square" rtlCol="0" anchor="ctr"/>
          <a:lstStyle/>
          <a:p>
            <a:pPr marL="0" indent="0" algn="ctr">
              <a:buNone/>
            </a:pPr>
            <a:r>
              <a:rPr lang="en-US" sz="1000" b="1" i="1" dirty="0">
                <a:solidFill>
                  <a:srgbClr val="8B5CF6"/>
                </a:solidFill>
                <a:latin typeface="Calibri" pitchFamily="34" charset="0"/>
                <a:ea typeface="Calibri" pitchFamily="34" charset="-122"/>
                <a:cs typeface="Calibri" pitchFamily="34" charset="-120"/>
              </a:rPr>
              <a:t>No business logic applied here</a:t>
            </a:r>
            <a:endParaRPr lang="en-US" sz="1000" dirty="0"/>
          </a:p>
        </p:txBody>
      </p:sp>
      <p:sp>
        <p:nvSpPr>
          <p:cNvPr id="27" name="Shape 25"/>
          <p:cNvSpPr/>
          <p:nvPr/>
        </p:nvSpPr>
        <p:spPr>
          <a:xfrm>
            <a:off x="7955280" y="3657600"/>
            <a:ext cx="411480" cy="457200"/>
          </a:xfrm>
          <a:prstGeom prst="rightArrow">
            <a:avLst/>
          </a:prstGeom>
          <a:solidFill>
            <a:srgbClr val="F96167"/>
          </a:solidFill>
          <a:ln/>
        </p:spPr>
        <p:txBody>
          <a:bodyPr/>
          <a:lstStyle/>
          <a:p>
            <a:endParaRPr lang="en-US"/>
          </a:p>
        </p:txBody>
      </p:sp>
      <p:sp>
        <p:nvSpPr>
          <p:cNvPr id="28" name="Text 26"/>
          <p:cNvSpPr/>
          <p:nvPr/>
        </p:nvSpPr>
        <p:spPr>
          <a:xfrm>
            <a:off x="7818120" y="4160520"/>
            <a:ext cx="685800" cy="228600"/>
          </a:xfrm>
          <a:prstGeom prst="rect">
            <a:avLst/>
          </a:prstGeom>
          <a:noFill/>
          <a:ln/>
        </p:spPr>
        <p:txBody>
          <a:bodyPr wrap="square" rtlCol="0" anchor="ctr"/>
          <a:lstStyle/>
          <a:p>
            <a:pPr marL="0" indent="0" algn="ctr">
              <a:buNone/>
            </a:pPr>
            <a:r>
              <a:rPr lang="en-US" sz="800" b="1" kern="0" spc="200" dirty="0">
                <a:solidFill>
                  <a:srgbClr val="F96167"/>
                </a:solidFill>
                <a:latin typeface="Calibri" pitchFamily="34" charset="0"/>
                <a:ea typeface="Calibri" pitchFamily="34" charset="-122"/>
                <a:cs typeface="Calibri" pitchFamily="34" charset="-120"/>
              </a:rPr>
              <a:t>GATE</a:t>
            </a:r>
            <a:endParaRPr lang="en-US" sz="800" dirty="0"/>
          </a:p>
        </p:txBody>
      </p:sp>
      <p:sp>
        <p:nvSpPr>
          <p:cNvPr id="29" name="Shape 27"/>
          <p:cNvSpPr/>
          <p:nvPr/>
        </p:nvSpPr>
        <p:spPr>
          <a:xfrm>
            <a:off x="8412480" y="1554480"/>
            <a:ext cx="3383280" cy="4754880"/>
          </a:xfrm>
          <a:prstGeom prst="roundRect">
            <a:avLst>
              <a:gd name="adj" fmla="val 2162"/>
            </a:avLst>
          </a:prstGeom>
          <a:solidFill>
            <a:srgbClr val="FFFFFF"/>
          </a:solidFill>
          <a:ln w="19050">
            <a:solidFill>
              <a:srgbClr val="F96167"/>
            </a:solidFill>
            <a:prstDash val="solid"/>
          </a:ln>
        </p:spPr>
        <p:txBody>
          <a:bodyPr/>
          <a:lstStyle/>
          <a:p>
            <a:endParaRPr lang="en-US"/>
          </a:p>
        </p:txBody>
      </p:sp>
      <p:sp>
        <p:nvSpPr>
          <p:cNvPr id="30" name="Shape 28"/>
          <p:cNvSpPr/>
          <p:nvPr/>
        </p:nvSpPr>
        <p:spPr>
          <a:xfrm>
            <a:off x="8412480" y="1554480"/>
            <a:ext cx="3383280" cy="457200"/>
          </a:xfrm>
          <a:prstGeom prst="rect">
            <a:avLst/>
          </a:prstGeom>
          <a:solidFill>
            <a:srgbClr val="F96167"/>
          </a:solidFill>
          <a:ln/>
        </p:spPr>
        <p:txBody>
          <a:bodyPr/>
          <a:lstStyle/>
          <a:p>
            <a:endParaRPr lang="en-US"/>
          </a:p>
        </p:txBody>
      </p:sp>
      <p:sp>
        <p:nvSpPr>
          <p:cNvPr id="31" name="Text 29"/>
          <p:cNvSpPr/>
          <p:nvPr/>
        </p:nvSpPr>
        <p:spPr>
          <a:xfrm>
            <a:off x="8412480" y="1554480"/>
            <a:ext cx="338328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QUALITY GATE · SODA</a:t>
            </a:r>
            <a:endParaRPr lang="en-US" sz="1300" dirty="0"/>
          </a:p>
        </p:txBody>
      </p:sp>
      <p:sp>
        <p:nvSpPr>
          <p:cNvPr id="32" name="Shape 30"/>
          <p:cNvSpPr/>
          <p:nvPr/>
        </p:nvSpPr>
        <p:spPr>
          <a:xfrm>
            <a:off x="8641080" y="2331720"/>
            <a:ext cx="320040" cy="320040"/>
          </a:xfrm>
          <a:prstGeom prst="ellipse">
            <a:avLst/>
          </a:prstGeom>
          <a:solidFill>
            <a:srgbClr val="F96167"/>
          </a:solidFill>
          <a:ln/>
        </p:spPr>
        <p:txBody>
          <a:bodyPr/>
          <a:lstStyle/>
          <a:p>
            <a:endParaRPr lang="en-US"/>
          </a:p>
        </p:txBody>
      </p:sp>
      <p:sp>
        <p:nvSpPr>
          <p:cNvPr id="33" name="Text 31"/>
          <p:cNvSpPr/>
          <p:nvPr/>
        </p:nvSpPr>
        <p:spPr>
          <a:xfrm>
            <a:off x="8641080" y="233172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9052560" y="2286000"/>
            <a:ext cx="2651760" cy="411480"/>
          </a:xfrm>
          <a:prstGeom prst="rect">
            <a:avLst/>
          </a:prstGeom>
          <a:noFill/>
          <a:ln/>
        </p:spPr>
        <p:txBody>
          <a:bodyPr wrap="square" rtlCol="0" anchor="ctr"/>
          <a:lstStyle/>
          <a:p>
            <a:pPr marL="0" indent="0">
              <a:buNone/>
            </a:pPr>
            <a:r>
              <a:rPr lang="en-US" sz="1200" dirty="0">
                <a:solidFill>
                  <a:srgbClr val="0F1A3D"/>
                </a:solidFill>
                <a:latin typeface="Calibri" pitchFamily="34" charset="0"/>
                <a:ea typeface="Calibri" pitchFamily="34" charset="-122"/>
                <a:cs typeface="Calibri" pitchFamily="34" charset="-120"/>
              </a:rPr>
              <a:t>Null checks</a:t>
            </a:r>
            <a:endParaRPr lang="en-US" sz="1200" dirty="0"/>
          </a:p>
        </p:txBody>
      </p:sp>
      <p:sp>
        <p:nvSpPr>
          <p:cNvPr id="35" name="Shape 33"/>
          <p:cNvSpPr/>
          <p:nvPr/>
        </p:nvSpPr>
        <p:spPr>
          <a:xfrm>
            <a:off x="8641080" y="2971800"/>
            <a:ext cx="320040" cy="320040"/>
          </a:xfrm>
          <a:prstGeom prst="ellipse">
            <a:avLst/>
          </a:prstGeom>
          <a:solidFill>
            <a:srgbClr val="F96167"/>
          </a:solidFill>
          <a:ln/>
        </p:spPr>
        <p:txBody>
          <a:bodyPr/>
          <a:lstStyle/>
          <a:p>
            <a:endParaRPr lang="en-US"/>
          </a:p>
        </p:txBody>
      </p:sp>
      <p:sp>
        <p:nvSpPr>
          <p:cNvPr id="36" name="Text 34"/>
          <p:cNvSpPr/>
          <p:nvPr/>
        </p:nvSpPr>
        <p:spPr>
          <a:xfrm>
            <a:off x="8641080" y="297180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9052560" y="2926080"/>
            <a:ext cx="2651760" cy="411480"/>
          </a:xfrm>
          <a:prstGeom prst="rect">
            <a:avLst/>
          </a:prstGeom>
          <a:noFill/>
          <a:ln/>
        </p:spPr>
        <p:txBody>
          <a:bodyPr wrap="square" rtlCol="0" anchor="ctr"/>
          <a:lstStyle/>
          <a:p>
            <a:pPr marL="0" indent="0">
              <a:buNone/>
            </a:pPr>
            <a:r>
              <a:rPr lang="en-US" sz="1200" dirty="0">
                <a:solidFill>
                  <a:srgbClr val="0F1A3D"/>
                </a:solidFill>
                <a:latin typeface="Calibri" pitchFamily="34" charset="0"/>
                <a:ea typeface="Calibri" pitchFamily="34" charset="-122"/>
                <a:cs typeface="Calibri" pitchFamily="34" charset="-120"/>
              </a:rPr>
              <a:t>Duplicate keys</a:t>
            </a:r>
            <a:endParaRPr lang="en-US" sz="1200" dirty="0"/>
          </a:p>
        </p:txBody>
      </p:sp>
      <p:sp>
        <p:nvSpPr>
          <p:cNvPr id="38" name="Shape 36"/>
          <p:cNvSpPr/>
          <p:nvPr/>
        </p:nvSpPr>
        <p:spPr>
          <a:xfrm>
            <a:off x="8641080" y="3611880"/>
            <a:ext cx="320040" cy="320040"/>
          </a:xfrm>
          <a:prstGeom prst="ellipse">
            <a:avLst/>
          </a:prstGeom>
          <a:solidFill>
            <a:srgbClr val="F96167"/>
          </a:solidFill>
          <a:ln/>
        </p:spPr>
        <p:txBody>
          <a:bodyPr/>
          <a:lstStyle/>
          <a:p>
            <a:endParaRPr lang="en-US"/>
          </a:p>
        </p:txBody>
      </p:sp>
      <p:sp>
        <p:nvSpPr>
          <p:cNvPr id="39" name="Text 37"/>
          <p:cNvSpPr/>
          <p:nvPr/>
        </p:nvSpPr>
        <p:spPr>
          <a:xfrm>
            <a:off x="8641080" y="36118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9052560" y="3566160"/>
            <a:ext cx="2651760" cy="411480"/>
          </a:xfrm>
          <a:prstGeom prst="rect">
            <a:avLst/>
          </a:prstGeom>
          <a:noFill/>
          <a:ln/>
        </p:spPr>
        <p:txBody>
          <a:bodyPr wrap="square" rtlCol="0" anchor="ctr"/>
          <a:lstStyle/>
          <a:p>
            <a:pPr marL="0" indent="0">
              <a:buNone/>
            </a:pPr>
            <a:r>
              <a:rPr lang="en-US" sz="1200" dirty="0">
                <a:solidFill>
                  <a:srgbClr val="0F1A3D"/>
                </a:solidFill>
                <a:latin typeface="Calibri" pitchFamily="34" charset="0"/>
                <a:ea typeface="Calibri" pitchFamily="34" charset="-122"/>
                <a:cs typeface="Calibri" pitchFamily="34" charset="-120"/>
              </a:rPr>
              <a:t>Schema validation</a:t>
            </a:r>
            <a:endParaRPr lang="en-US" sz="1200" dirty="0"/>
          </a:p>
        </p:txBody>
      </p:sp>
      <p:sp>
        <p:nvSpPr>
          <p:cNvPr id="41" name="Shape 39"/>
          <p:cNvSpPr/>
          <p:nvPr/>
        </p:nvSpPr>
        <p:spPr>
          <a:xfrm>
            <a:off x="8641080" y="4251960"/>
            <a:ext cx="320040" cy="320040"/>
          </a:xfrm>
          <a:prstGeom prst="ellipse">
            <a:avLst/>
          </a:prstGeom>
          <a:solidFill>
            <a:srgbClr val="F96167"/>
          </a:solidFill>
          <a:ln/>
        </p:spPr>
        <p:txBody>
          <a:bodyPr/>
          <a:lstStyle/>
          <a:p>
            <a:endParaRPr lang="en-US"/>
          </a:p>
        </p:txBody>
      </p:sp>
      <p:sp>
        <p:nvSpPr>
          <p:cNvPr id="42" name="Text 40"/>
          <p:cNvSpPr/>
          <p:nvPr/>
        </p:nvSpPr>
        <p:spPr>
          <a:xfrm>
            <a:off x="8641080" y="425196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9052560" y="4206240"/>
            <a:ext cx="2651760" cy="411480"/>
          </a:xfrm>
          <a:prstGeom prst="rect">
            <a:avLst/>
          </a:prstGeom>
          <a:noFill/>
          <a:ln/>
        </p:spPr>
        <p:txBody>
          <a:bodyPr wrap="square" rtlCol="0" anchor="ctr"/>
          <a:lstStyle/>
          <a:p>
            <a:pPr marL="0" indent="0">
              <a:buNone/>
            </a:pPr>
            <a:r>
              <a:rPr lang="en-US" sz="1200" dirty="0">
                <a:solidFill>
                  <a:srgbClr val="0F1A3D"/>
                </a:solidFill>
                <a:latin typeface="Calibri" pitchFamily="34" charset="0"/>
                <a:ea typeface="Calibri" pitchFamily="34" charset="-122"/>
                <a:cs typeface="Calibri" pitchFamily="34" charset="-120"/>
              </a:rPr>
              <a:t>Row counts &amp; freshness</a:t>
            </a:r>
            <a:endParaRPr lang="en-US" sz="1200" dirty="0"/>
          </a:p>
        </p:txBody>
      </p:sp>
      <p:sp>
        <p:nvSpPr>
          <p:cNvPr id="44" name="Shape 42"/>
          <p:cNvSpPr/>
          <p:nvPr/>
        </p:nvSpPr>
        <p:spPr>
          <a:xfrm>
            <a:off x="8641080" y="4892040"/>
            <a:ext cx="320040" cy="320040"/>
          </a:xfrm>
          <a:prstGeom prst="ellipse">
            <a:avLst/>
          </a:prstGeom>
          <a:solidFill>
            <a:srgbClr val="F96167"/>
          </a:solidFill>
          <a:ln/>
        </p:spPr>
        <p:txBody>
          <a:bodyPr/>
          <a:lstStyle/>
          <a:p>
            <a:endParaRPr lang="en-US"/>
          </a:p>
        </p:txBody>
      </p:sp>
      <p:sp>
        <p:nvSpPr>
          <p:cNvPr id="45" name="Text 43"/>
          <p:cNvSpPr/>
          <p:nvPr/>
        </p:nvSpPr>
        <p:spPr>
          <a:xfrm>
            <a:off x="8641080" y="489204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6" name="Text 44"/>
          <p:cNvSpPr/>
          <p:nvPr/>
        </p:nvSpPr>
        <p:spPr>
          <a:xfrm>
            <a:off x="9052560" y="4846320"/>
            <a:ext cx="2651760" cy="411480"/>
          </a:xfrm>
          <a:prstGeom prst="rect">
            <a:avLst/>
          </a:prstGeom>
          <a:noFill/>
          <a:ln/>
        </p:spPr>
        <p:txBody>
          <a:bodyPr wrap="square" rtlCol="0" anchor="ctr"/>
          <a:lstStyle/>
          <a:p>
            <a:pPr marL="0" indent="0">
              <a:buNone/>
            </a:pPr>
            <a:r>
              <a:rPr lang="en-US" sz="1200" dirty="0">
                <a:solidFill>
                  <a:srgbClr val="0F1A3D"/>
                </a:solidFill>
                <a:latin typeface="Calibri" pitchFamily="34" charset="0"/>
                <a:ea typeface="Calibri" pitchFamily="34" charset="-122"/>
                <a:cs typeface="Calibri" pitchFamily="34" charset="-120"/>
              </a:rPr>
              <a:t>Allowed value sets</a:t>
            </a:r>
            <a:endParaRPr lang="en-US" sz="1200" dirty="0"/>
          </a:p>
        </p:txBody>
      </p:sp>
      <p:sp>
        <p:nvSpPr>
          <p:cNvPr id="47" name="Shape 45"/>
          <p:cNvSpPr/>
          <p:nvPr/>
        </p:nvSpPr>
        <p:spPr>
          <a:xfrm>
            <a:off x="8595360" y="5532120"/>
            <a:ext cx="3017520" cy="548640"/>
          </a:xfrm>
          <a:prstGeom prst="roundRect">
            <a:avLst>
              <a:gd name="adj" fmla="val 8333"/>
            </a:avLst>
          </a:prstGeom>
          <a:solidFill>
            <a:srgbClr val="FEE2E2"/>
          </a:solidFill>
          <a:ln w="12700">
            <a:solidFill>
              <a:srgbClr val="F96167"/>
            </a:solidFill>
            <a:prstDash val="solid"/>
          </a:ln>
        </p:spPr>
        <p:txBody>
          <a:bodyPr/>
          <a:lstStyle/>
          <a:p>
            <a:endParaRPr lang="en-US"/>
          </a:p>
        </p:txBody>
      </p:sp>
      <p:sp>
        <p:nvSpPr>
          <p:cNvPr id="48" name="Text 46"/>
          <p:cNvSpPr/>
          <p:nvPr/>
        </p:nvSpPr>
        <p:spPr>
          <a:xfrm>
            <a:off x="8595360" y="5532120"/>
            <a:ext cx="3017520" cy="548640"/>
          </a:xfrm>
          <a:prstGeom prst="rect">
            <a:avLst/>
          </a:prstGeom>
          <a:noFill/>
          <a:ln/>
        </p:spPr>
        <p:txBody>
          <a:bodyPr wrap="square" rtlCol="0" anchor="ctr"/>
          <a:lstStyle/>
          <a:p>
            <a:pPr marL="0" indent="0" algn="ctr">
              <a:buNone/>
            </a:pPr>
            <a:r>
              <a:rPr lang="en-US" sz="1000" b="1" dirty="0">
                <a:solidFill>
                  <a:srgbClr val="F96167"/>
                </a:solidFill>
                <a:latin typeface="Calibri" pitchFamily="34" charset="0"/>
                <a:ea typeface="Calibri" pitchFamily="34" charset="-122"/>
                <a:cs typeface="Calibri" pitchFamily="34" charset="-120"/>
              </a:rPr>
              <a:t>Failures block downstream loads</a:t>
            </a:r>
            <a:endParaRPr lang="en-US" sz="1000" dirty="0"/>
          </a:p>
        </p:txBody>
      </p:sp>
      <p:sp>
        <p:nvSpPr>
          <p:cNvPr id="50" name="Shape 47"/>
          <p:cNvSpPr/>
          <p:nvPr/>
        </p:nvSpPr>
        <p:spPr>
          <a:xfrm>
            <a:off x="0" y="6675120"/>
            <a:ext cx="12188952" cy="182880"/>
          </a:xfrm>
          <a:prstGeom prst="rect">
            <a:avLst/>
          </a:prstGeom>
          <a:solidFill>
            <a:srgbClr val="1E2761"/>
          </a:solidFill>
          <a:ln/>
        </p:spPr>
        <p:txBody>
          <a:bodyPr/>
          <a:lstStyle/>
          <a:p>
            <a:endParaRPr lang="en-US"/>
          </a:p>
        </p:txBody>
      </p:sp>
      <p:sp>
        <p:nvSpPr>
          <p:cNvPr id="51" name="Text 48"/>
          <p:cNvSpPr/>
          <p:nvPr/>
        </p:nvSpPr>
        <p:spPr>
          <a:xfrm>
            <a:off x="274320" y="6446520"/>
            <a:ext cx="73152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ARIA Data Pipeline  •  Snowflake + dbt + Soda</a:t>
            </a:r>
            <a:endParaRPr lang="en-US" sz="900" dirty="0"/>
          </a:p>
        </p:txBody>
      </p:sp>
      <p:sp>
        <p:nvSpPr>
          <p:cNvPr id="52" name="Text 49"/>
          <p:cNvSpPr/>
          <p:nvPr/>
        </p:nvSpPr>
        <p:spPr>
          <a:xfrm>
            <a:off x="11612880" y="6446520"/>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96167"/>
          </a:solidFill>
          <a:ln/>
        </p:spPr>
        <p:txBody>
          <a:bodyPr/>
          <a:lstStyle/>
          <a:p>
            <a:endParaRPr lang="en-US"/>
          </a:p>
        </p:txBody>
      </p:sp>
      <p:sp>
        <p:nvSpPr>
          <p:cNvPr id="3" name="Text 1"/>
          <p:cNvSpPr/>
          <p:nvPr/>
        </p:nvSpPr>
        <p:spPr>
          <a:xfrm>
            <a:off x="457200" y="228600"/>
            <a:ext cx="10972800" cy="274320"/>
          </a:xfrm>
          <a:prstGeom prst="rect">
            <a:avLst/>
          </a:prstGeom>
          <a:noFill/>
          <a:ln/>
        </p:spPr>
        <p:txBody>
          <a:bodyPr wrap="square"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LAYERS 3–4</a:t>
            </a:r>
            <a:endParaRPr lang="en-US" sz="1100" dirty="0"/>
          </a:p>
        </p:txBody>
      </p:sp>
      <p:sp>
        <p:nvSpPr>
          <p:cNvPr id="4" name="Text 2"/>
          <p:cNvSpPr/>
          <p:nvPr/>
        </p:nvSpPr>
        <p:spPr>
          <a:xfrm>
            <a:off x="457200" y="502920"/>
            <a:ext cx="10972800" cy="64008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Transformation, Validation &amp; Reporting</a:t>
            </a:r>
            <a:endParaRPr lang="en-US" sz="3000" dirty="0"/>
          </a:p>
        </p:txBody>
      </p:sp>
      <p:sp>
        <p:nvSpPr>
          <p:cNvPr id="5" name="Shape 3"/>
          <p:cNvSpPr/>
          <p:nvPr/>
        </p:nvSpPr>
        <p:spPr>
          <a:xfrm>
            <a:off x="457200" y="1188720"/>
            <a:ext cx="1097280" cy="0"/>
          </a:xfrm>
          <a:prstGeom prst="line">
            <a:avLst/>
          </a:prstGeom>
          <a:noFill/>
          <a:ln w="25400">
            <a:solidFill>
              <a:srgbClr val="1E2761"/>
            </a:solidFill>
            <a:prstDash val="solid"/>
          </a:ln>
        </p:spPr>
        <p:txBody>
          <a:bodyPr/>
          <a:lstStyle/>
          <a:p>
            <a:endParaRPr lang="en-US"/>
          </a:p>
        </p:txBody>
      </p:sp>
      <p:sp>
        <p:nvSpPr>
          <p:cNvPr id="6" name="Shape 4"/>
          <p:cNvSpPr/>
          <p:nvPr/>
        </p:nvSpPr>
        <p:spPr>
          <a:xfrm>
            <a:off x="365760" y="1554480"/>
            <a:ext cx="2743200" cy="2286000"/>
          </a:xfrm>
          <a:prstGeom prst="roundRect">
            <a:avLst>
              <a:gd name="adj" fmla="val 3200"/>
            </a:avLst>
          </a:prstGeom>
          <a:solidFill>
            <a:srgbClr val="FFFFFF"/>
          </a:solidFill>
          <a:ln w="19050">
            <a:solidFill>
              <a:srgbClr val="0EA5E9"/>
            </a:solidFill>
            <a:prstDash val="solid"/>
          </a:ln>
        </p:spPr>
        <p:txBody>
          <a:bodyPr/>
          <a:lstStyle/>
          <a:p>
            <a:endParaRPr lang="en-US"/>
          </a:p>
        </p:txBody>
      </p:sp>
      <p:sp>
        <p:nvSpPr>
          <p:cNvPr id="7" name="Shape 5"/>
          <p:cNvSpPr/>
          <p:nvPr/>
        </p:nvSpPr>
        <p:spPr>
          <a:xfrm>
            <a:off x="365760" y="1554480"/>
            <a:ext cx="2743200" cy="411480"/>
          </a:xfrm>
          <a:prstGeom prst="rect">
            <a:avLst/>
          </a:prstGeom>
          <a:solidFill>
            <a:srgbClr val="0EA5E9"/>
          </a:solidFill>
          <a:ln/>
        </p:spPr>
        <p:txBody>
          <a:bodyPr/>
          <a:lstStyle/>
          <a:p>
            <a:endParaRPr lang="en-US"/>
          </a:p>
        </p:txBody>
      </p:sp>
      <p:sp>
        <p:nvSpPr>
          <p:cNvPr id="8" name="Text 6"/>
          <p:cNvSpPr/>
          <p:nvPr/>
        </p:nvSpPr>
        <p:spPr>
          <a:xfrm>
            <a:off x="365760" y="1554480"/>
            <a:ext cx="2743200" cy="41148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3 · dbt TRANSFORM</a:t>
            </a:r>
            <a:endParaRPr lang="en-US" sz="1200" dirty="0"/>
          </a:p>
        </p:txBody>
      </p:sp>
      <p:sp>
        <p:nvSpPr>
          <p:cNvPr id="9" name="Text 7"/>
          <p:cNvSpPr/>
          <p:nvPr/>
        </p:nvSpPr>
        <p:spPr>
          <a:xfrm>
            <a:off x="502920" y="2103120"/>
            <a:ext cx="2606040" cy="1691640"/>
          </a:xfrm>
          <a:prstGeom prst="rect">
            <a:avLst/>
          </a:prstGeom>
          <a:noFill/>
          <a:ln/>
        </p:spPr>
        <p:txBody>
          <a:bodyPr wrap="square" rtlCol="0" anchor="ctr"/>
          <a:lstStyle/>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SQL models, modular &amp; tested</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Type casting &amp; cleansing</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Joins, dedup, conformance</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Lineage + docs auto-generated</a:t>
            </a:r>
            <a:endParaRPr lang="en-US" sz="1100" dirty="0"/>
          </a:p>
        </p:txBody>
      </p:sp>
      <p:sp>
        <p:nvSpPr>
          <p:cNvPr id="10" name="Shape 8"/>
          <p:cNvSpPr/>
          <p:nvPr/>
        </p:nvSpPr>
        <p:spPr>
          <a:xfrm>
            <a:off x="3154680" y="2514600"/>
            <a:ext cx="365760" cy="411480"/>
          </a:xfrm>
          <a:prstGeom prst="rightArrow">
            <a:avLst/>
          </a:prstGeom>
          <a:solidFill>
            <a:srgbClr val="1E2761"/>
          </a:solidFill>
          <a:ln/>
        </p:spPr>
        <p:txBody>
          <a:bodyPr/>
          <a:lstStyle/>
          <a:p>
            <a:endParaRPr lang="en-US"/>
          </a:p>
        </p:txBody>
      </p:sp>
      <p:sp>
        <p:nvSpPr>
          <p:cNvPr id="11" name="Shape 9"/>
          <p:cNvSpPr/>
          <p:nvPr/>
        </p:nvSpPr>
        <p:spPr>
          <a:xfrm>
            <a:off x="3611880" y="1554480"/>
            <a:ext cx="3291840" cy="2286000"/>
          </a:xfrm>
          <a:prstGeom prst="roundRect">
            <a:avLst>
              <a:gd name="adj" fmla="val 3200"/>
            </a:avLst>
          </a:prstGeom>
          <a:solidFill>
            <a:srgbClr val="FFFFFF"/>
          </a:solidFill>
          <a:ln w="19050">
            <a:solidFill>
              <a:srgbClr val="0EA5E9"/>
            </a:solidFill>
            <a:prstDash val="solid"/>
          </a:ln>
        </p:spPr>
        <p:txBody>
          <a:bodyPr/>
          <a:lstStyle/>
          <a:p>
            <a:endParaRPr lang="en-US"/>
          </a:p>
        </p:txBody>
      </p:sp>
      <p:sp>
        <p:nvSpPr>
          <p:cNvPr id="12" name="Shape 10"/>
          <p:cNvSpPr/>
          <p:nvPr/>
        </p:nvSpPr>
        <p:spPr>
          <a:xfrm>
            <a:off x="3611880" y="1554480"/>
            <a:ext cx="3291840" cy="411480"/>
          </a:xfrm>
          <a:prstGeom prst="rect">
            <a:avLst/>
          </a:prstGeom>
          <a:solidFill>
            <a:srgbClr val="0EA5E9"/>
          </a:solidFill>
          <a:ln/>
        </p:spPr>
        <p:txBody>
          <a:bodyPr/>
          <a:lstStyle/>
          <a:p>
            <a:endParaRPr lang="en-US"/>
          </a:p>
        </p:txBody>
      </p:sp>
      <p:sp>
        <p:nvSpPr>
          <p:cNvPr id="13" name="Text 11"/>
          <p:cNvSpPr/>
          <p:nvPr/>
        </p:nvSpPr>
        <p:spPr>
          <a:xfrm>
            <a:off x="3611880" y="1554480"/>
            <a:ext cx="3291840" cy="41148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4 · STAGE + VALIDATIONS</a:t>
            </a:r>
            <a:endParaRPr lang="en-US" sz="1200" dirty="0"/>
          </a:p>
        </p:txBody>
      </p:sp>
      <p:sp>
        <p:nvSpPr>
          <p:cNvPr id="14" name="Shape 12"/>
          <p:cNvSpPr/>
          <p:nvPr/>
        </p:nvSpPr>
        <p:spPr>
          <a:xfrm>
            <a:off x="3749040" y="2103120"/>
            <a:ext cx="1463040" cy="502920"/>
          </a:xfrm>
          <a:prstGeom prst="roundRect">
            <a:avLst>
              <a:gd name="adj" fmla="val 7273"/>
            </a:avLst>
          </a:prstGeom>
          <a:solidFill>
            <a:srgbClr val="E0F2FE"/>
          </a:solidFill>
          <a:ln w="12700">
            <a:solidFill>
              <a:srgbClr val="0EA5E9"/>
            </a:solidFill>
            <a:prstDash val="solid"/>
          </a:ln>
        </p:spPr>
        <p:txBody>
          <a:bodyPr/>
          <a:lstStyle/>
          <a:p>
            <a:endParaRPr lang="en-US"/>
          </a:p>
        </p:txBody>
      </p:sp>
      <p:sp>
        <p:nvSpPr>
          <p:cNvPr id="15" name="Text 13"/>
          <p:cNvSpPr/>
          <p:nvPr/>
        </p:nvSpPr>
        <p:spPr>
          <a:xfrm>
            <a:off x="3749040" y="2103120"/>
            <a:ext cx="1463040" cy="502920"/>
          </a:xfrm>
          <a:prstGeom prst="rect">
            <a:avLst/>
          </a:prstGeom>
          <a:noFill/>
          <a:ln/>
        </p:spPr>
        <p:txBody>
          <a:bodyPr wrap="square" rtlCol="0" anchor="ctr"/>
          <a:lstStyle/>
          <a:p>
            <a:pPr marL="0" indent="0" algn="ctr">
              <a:buNone/>
            </a:pPr>
            <a:r>
              <a:rPr lang="en-US" sz="900" b="1" dirty="0">
                <a:solidFill>
                  <a:srgbClr val="0EA5E9"/>
                </a:solidFill>
                <a:latin typeface="Calibri" pitchFamily="34" charset="0"/>
                <a:ea typeface="Calibri" pitchFamily="34" charset="-122"/>
                <a:cs typeface="Calibri" pitchFamily="34" charset="-120"/>
              </a:rPr>
              <a:t>Data Validations</a:t>
            </a:r>
            <a:endParaRPr lang="en-US" sz="900" dirty="0"/>
          </a:p>
        </p:txBody>
      </p:sp>
      <p:sp>
        <p:nvSpPr>
          <p:cNvPr id="16" name="Shape 14"/>
          <p:cNvSpPr/>
          <p:nvPr/>
        </p:nvSpPr>
        <p:spPr>
          <a:xfrm>
            <a:off x="5303520" y="2103120"/>
            <a:ext cx="1463040" cy="502920"/>
          </a:xfrm>
          <a:prstGeom prst="roundRect">
            <a:avLst>
              <a:gd name="adj" fmla="val 7273"/>
            </a:avLst>
          </a:prstGeom>
          <a:solidFill>
            <a:srgbClr val="E0F2FE"/>
          </a:solidFill>
          <a:ln w="12700">
            <a:solidFill>
              <a:srgbClr val="0EA5E9"/>
            </a:solidFill>
            <a:prstDash val="solid"/>
          </a:ln>
        </p:spPr>
        <p:txBody>
          <a:bodyPr/>
          <a:lstStyle/>
          <a:p>
            <a:endParaRPr lang="en-US"/>
          </a:p>
        </p:txBody>
      </p:sp>
      <p:sp>
        <p:nvSpPr>
          <p:cNvPr id="17" name="Text 15"/>
          <p:cNvSpPr/>
          <p:nvPr/>
        </p:nvSpPr>
        <p:spPr>
          <a:xfrm>
            <a:off x="5303520" y="2103120"/>
            <a:ext cx="1463040" cy="502920"/>
          </a:xfrm>
          <a:prstGeom prst="rect">
            <a:avLst/>
          </a:prstGeom>
          <a:noFill/>
          <a:ln/>
        </p:spPr>
        <p:txBody>
          <a:bodyPr wrap="square" rtlCol="0" anchor="ctr"/>
          <a:lstStyle/>
          <a:p>
            <a:pPr marL="0" indent="0" algn="ctr">
              <a:buNone/>
            </a:pPr>
            <a:r>
              <a:rPr lang="en-US" sz="900" b="1" dirty="0">
                <a:solidFill>
                  <a:srgbClr val="0EA5E9"/>
                </a:solidFill>
                <a:latin typeface="Calibri" pitchFamily="34" charset="0"/>
                <a:ea typeface="Calibri" pitchFamily="34" charset="-122"/>
                <a:cs typeface="Calibri" pitchFamily="34" charset="-120"/>
              </a:rPr>
              <a:t>Business Rules</a:t>
            </a:r>
            <a:endParaRPr lang="en-US" sz="900" dirty="0"/>
          </a:p>
        </p:txBody>
      </p:sp>
      <p:sp>
        <p:nvSpPr>
          <p:cNvPr id="18" name="Text 16"/>
          <p:cNvSpPr/>
          <p:nvPr/>
        </p:nvSpPr>
        <p:spPr>
          <a:xfrm>
            <a:off x="3749040" y="2697480"/>
            <a:ext cx="3108960" cy="1097280"/>
          </a:xfrm>
          <a:prstGeom prst="rect">
            <a:avLst/>
          </a:prstGeom>
          <a:noFill/>
          <a:ln/>
        </p:spPr>
        <p:txBody>
          <a:bodyPr wrap="square" rtlCol="0" anchor="ctr"/>
          <a:lstStyle/>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Referential integrity &amp; ranges</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KPIs, thresholds, business logic</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Quarantines invalid rows</a:t>
            </a:r>
            <a:endParaRPr lang="en-US" sz="1100" dirty="0"/>
          </a:p>
        </p:txBody>
      </p:sp>
      <p:sp>
        <p:nvSpPr>
          <p:cNvPr id="19" name="Shape 17"/>
          <p:cNvSpPr/>
          <p:nvPr/>
        </p:nvSpPr>
        <p:spPr>
          <a:xfrm>
            <a:off x="6949440" y="2514600"/>
            <a:ext cx="365760" cy="411480"/>
          </a:xfrm>
          <a:prstGeom prst="rightArrow">
            <a:avLst/>
          </a:prstGeom>
          <a:solidFill>
            <a:srgbClr val="1E2761"/>
          </a:solidFill>
          <a:ln/>
        </p:spPr>
        <p:txBody>
          <a:bodyPr/>
          <a:lstStyle/>
          <a:p>
            <a:endParaRPr lang="en-US"/>
          </a:p>
        </p:txBody>
      </p:sp>
      <p:sp>
        <p:nvSpPr>
          <p:cNvPr id="20" name="Shape 18"/>
          <p:cNvSpPr/>
          <p:nvPr/>
        </p:nvSpPr>
        <p:spPr>
          <a:xfrm>
            <a:off x="7406640" y="1554480"/>
            <a:ext cx="2743200" cy="2286000"/>
          </a:xfrm>
          <a:prstGeom prst="roundRect">
            <a:avLst>
              <a:gd name="adj" fmla="val 3200"/>
            </a:avLst>
          </a:prstGeom>
          <a:solidFill>
            <a:srgbClr val="FFFFFF"/>
          </a:solidFill>
          <a:ln w="19050">
            <a:solidFill>
              <a:srgbClr val="22C55E"/>
            </a:solidFill>
            <a:prstDash val="solid"/>
          </a:ln>
        </p:spPr>
        <p:txBody>
          <a:bodyPr/>
          <a:lstStyle/>
          <a:p>
            <a:endParaRPr lang="en-US"/>
          </a:p>
        </p:txBody>
      </p:sp>
      <p:sp>
        <p:nvSpPr>
          <p:cNvPr id="21" name="Shape 19"/>
          <p:cNvSpPr/>
          <p:nvPr/>
        </p:nvSpPr>
        <p:spPr>
          <a:xfrm>
            <a:off x="7406640" y="1554480"/>
            <a:ext cx="2743200" cy="411480"/>
          </a:xfrm>
          <a:prstGeom prst="rect">
            <a:avLst/>
          </a:prstGeom>
          <a:solidFill>
            <a:srgbClr val="22C55E"/>
          </a:solidFill>
          <a:ln/>
        </p:spPr>
        <p:txBody>
          <a:bodyPr/>
          <a:lstStyle/>
          <a:p>
            <a:endParaRPr lang="en-US"/>
          </a:p>
        </p:txBody>
      </p:sp>
      <p:sp>
        <p:nvSpPr>
          <p:cNvPr id="22" name="Text 20"/>
          <p:cNvSpPr/>
          <p:nvPr/>
        </p:nvSpPr>
        <p:spPr>
          <a:xfrm>
            <a:off x="7406640" y="1554480"/>
            <a:ext cx="2743200" cy="41148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5 · REPORTING</a:t>
            </a:r>
            <a:endParaRPr lang="en-US" sz="1200" dirty="0"/>
          </a:p>
        </p:txBody>
      </p:sp>
      <p:sp>
        <p:nvSpPr>
          <p:cNvPr id="23" name="Text 21"/>
          <p:cNvSpPr/>
          <p:nvPr/>
        </p:nvSpPr>
        <p:spPr>
          <a:xfrm>
            <a:off x="7543800" y="2103120"/>
            <a:ext cx="2606040" cy="1691640"/>
          </a:xfrm>
          <a:prstGeom prst="rect">
            <a:avLst/>
          </a:prstGeom>
          <a:noFill/>
          <a:ln/>
        </p:spPr>
        <p:txBody>
          <a:bodyPr wrap="square" rtlCol="0" anchor="ctr"/>
          <a:lstStyle/>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Curated marts for BI</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Stable, governed contracts</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Consumed by dashboards</a:t>
            </a:r>
            <a:endParaRPr lang="en-US" sz="1100" dirty="0"/>
          </a:p>
          <a:p>
            <a:pPr marL="342900" indent="-342900">
              <a:buSzPct val="100000"/>
              <a:buChar char="•"/>
            </a:pPr>
            <a:r>
              <a:rPr lang="en-US" sz="1100" dirty="0">
                <a:solidFill>
                  <a:srgbClr val="0F1A3D"/>
                </a:solidFill>
                <a:latin typeface="Calibri" pitchFamily="34" charset="0"/>
                <a:ea typeface="Calibri" pitchFamily="34" charset="-122"/>
                <a:cs typeface="Calibri" pitchFamily="34" charset="-120"/>
              </a:rPr>
              <a:t>Role-based access</a:t>
            </a:r>
            <a:endParaRPr lang="en-US" sz="1100" dirty="0"/>
          </a:p>
        </p:txBody>
      </p:sp>
      <p:sp>
        <p:nvSpPr>
          <p:cNvPr id="24" name="Shape 22"/>
          <p:cNvSpPr/>
          <p:nvPr/>
        </p:nvSpPr>
        <p:spPr>
          <a:xfrm>
            <a:off x="10332720" y="2240280"/>
            <a:ext cx="1463040" cy="914400"/>
          </a:xfrm>
          <a:prstGeom prst="roundRect">
            <a:avLst>
              <a:gd name="adj" fmla="val 5000"/>
            </a:avLst>
          </a:prstGeom>
          <a:solidFill>
            <a:srgbClr val="1E2761"/>
          </a:solidFill>
          <a:ln/>
        </p:spPr>
        <p:txBody>
          <a:bodyPr/>
          <a:lstStyle/>
          <a:p>
            <a:endParaRPr lang="en-US"/>
          </a:p>
        </p:txBody>
      </p:sp>
      <p:sp>
        <p:nvSpPr>
          <p:cNvPr id="25" name="Text 23"/>
          <p:cNvSpPr/>
          <p:nvPr/>
        </p:nvSpPr>
        <p:spPr>
          <a:xfrm>
            <a:off x="10332720" y="2240280"/>
            <a:ext cx="146304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BI / Analytics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Consumers</a:t>
            </a:r>
            <a:endParaRPr lang="en-US" sz="1100" dirty="0"/>
          </a:p>
        </p:txBody>
      </p:sp>
      <p:sp>
        <p:nvSpPr>
          <p:cNvPr id="26" name="Shape 24"/>
          <p:cNvSpPr/>
          <p:nvPr/>
        </p:nvSpPr>
        <p:spPr>
          <a:xfrm>
            <a:off x="10149840" y="2697480"/>
            <a:ext cx="182880" cy="0"/>
          </a:xfrm>
          <a:prstGeom prst="line">
            <a:avLst/>
          </a:prstGeom>
          <a:noFill/>
          <a:ln w="25400">
            <a:solidFill>
              <a:srgbClr val="1E2761"/>
            </a:solidFill>
            <a:prstDash val="solid"/>
          </a:ln>
        </p:spPr>
        <p:txBody>
          <a:bodyPr/>
          <a:lstStyle/>
          <a:p>
            <a:endParaRPr lang="en-US"/>
          </a:p>
        </p:txBody>
      </p:sp>
      <p:sp>
        <p:nvSpPr>
          <p:cNvPr id="27" name="Shape 25"/>
          <p:cNvSpPr/>
          <p:nvPr/>
        </p:nvSpPr>
        <p:spPr>
          <a:xfrm>
            <a:off x="365760" y="4069080"/>
            <a:ext cx="11430000" cy="2240280"/>
          </a:xfrm>
          <a:prstGeom prst="roundRect">
            <a:avLst>
              <a:gd name="adj" fmla="val 3265"/>
            </a:avLst>
          </a:prstGeom>
          <a:solidFill>
            <a:srgbClr val="FFFFFF"/>
          </a:solidFill>
          <a:ln w="12700">
            <a:solidFill>
              <a:srgbClr val="1E2761"/>
            </a:solidFill>
            <a:prstDash val="solid"/>
          </a:ln>
        </p:spPr>
        <p:txBody>
          <a:bodyPr/>
          <a:lstStyle/>
          <a:p>
            <a:endParaRPr lang="en-US"/>
          </a:p>
        </p:txBody>
      </p:sp>
      <p:sp>
        <p:nvSpPr>
          <p:cNvPr id="28" name="Text 26"/>
          <p:cNvSpPr/>
          <p:nvPr/>
        </p:nvSpPr>
        <p:spPr>
          <a:xfrm>
            <a:off x="548640" y="4160520"/>
            <a:ext cx="54864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Snowflake Architecture</a:t>
            </a:r>
            <a:endParaRPr lang="en-US" sz="1300" dirty="0"/>
          </a:p>
        </p:txBody>
      </p:sp>
      <p:sp>
        <p:nvSpPr>
          <p:cNvPr id="29" name="Text 27"/>
          <p:cNvSpPr/>
          <p:nvPr/>
        </p:nvSpPr>
        <p:spPr>
          <a:xfrm>
            <a:off x="548640" y="4434840"/>
            <a:ext cx="822960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Compute &amp; storage are decoupled. One warehouse powers three trust-tier schemas.</a:t>
            </a:r>
            <a:endParaRPr lang="en-US" sz="1000" dirty="0"/>
          </a:p>
        </p:txBody>
      </p:sp>
      <p:sp>
        <p:nvSpPr>
          <p:cNvPr id="30" name="Shape 28"/>
          <p:cNvSpPr/>
          <p:nvPr/>
        </p:nvSpPr>
        <p:spPr>
          <a:xfrm>
            <a:off x="640080" y="4800600"/>
            <a:ext cx="2194560" cy="1325880"/>
          </a:xfrm>
          <a:prstGeom prst="roundRect">
            <a:avLst>
              <a:gd name="adj" fmla="val 5517"/>
            </a:avLst>
          </a:prstGeom>
          <a:solidFill>
            <a:srgbClr val="1E2761"/>
          </a:solidFill>
          <a:ln/>
        </p:spPr>
        <p:txBody>
          <a:bodyPr/>
          <a:lstStyle/>
          <a:p>
            <a:endParaRPr lang="en-US"/>
          </a:p>
        </p:txBody>
      </p:sp>
      <p:sp>
        <p:nvSpPr>
          <p:cNvPr id="31" name="Text 29"/>
          <p:cNvSpPr/>
          <p:nvPr/>
        </p:nvSpPr>
        <p:spPr>
          <a:xfrm>
            <a:off x="640080" y="4846320"/>
            <a:ext cx="2194560" cy="54864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VIRTUAL</a:t>
            </a:r>
            <a:endParaRPr lang="en-US" sz="1200" dirty="0"/>
          </a:p>
          <a:p>
            <a:pPr marL="0" indent="0" algn="ctr">
              <a:buNone/>
            </a:pPr>
            <a:r>
              <a:rPr lang="en-US" sz="1200" b="1" kern="0" spc="200" dirty="0">
                <a:solidFill>
                  <a:srgbClr val="FFFFFF"/>
                </a:solidFill>
                <a:latin typeface="Calibri" pitchFamily="34" charset="0"/>
                <a:ea typeface="Calibri" pitchFamily="34" charset="-122"/>
                <a:cs typeface="Calibri" pitchFamily="34" charset="-120"/>
              </a:rPr>
              <a:t>WAREHOUSE</a:t>
            </a:r>
            <a:endParaRPr lang="en-US" sz="1200" dirty="0"/>
          </a:p>
        </p:txBody>
      </p:sp>
      <p:sp>
        <p:nvSpPr>
          <p:cNvPr id="32" name="Text 30"/>
          <p:cNvSpPr/>
          <p:nvPr/>
        </p:nvSpPr>
        <p:spPr>
          <a:xfrm>
            <a:off x="640080" y="5349240"/>
            <a:ext cx="2194560" cy="274320"/>
          </a:xfrm>
          <a:prstGeom prst="rect">
            <a:avLst/>
          </a:prstGeom>
          <a:noFill/>
          <a:ln/>
        </p:spPr>
        <p:txBody>
          <a:bodyPr wrap="square"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Compute layer</a:t>
            </a:r>
            <a:endParaRPr lang="en-US" sz="1000" dirty="0"/>
          </a:p>
        </p:txBody>
      </p:sp>
      <p:sp>
        <p:nvSpPr>
          <p:cNvPr id="33" name="Text 31"/>
          <p:cNvSpPr/>
          <p:nvPr/>
        </p:nvSpPr>
        <p:spPr>
          <a:xfrm>
            <a:off x="640080" y="5715000"/>
            <a:ext cx="2194560" cy="274320"/>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Auto-scale  •  Auto-suspend</a:t>
            </a:r>
            <a:endParaRPr lang="en-US" sz="900" dirty="0"/>
          </a:p>
        </p:txBody>
      </p:sp>
      <p:sp>
        <p:nvSpPr>
          <p:cNvPr id="34" name="Shape 32"/>
          <p:cNvSpPr/>
          <p:nvPr/>
        </p:nvSpPr>
        <p:spPr>
          <a:xfrm>
            <a:off x="2834640" y="5458968"/>
            <a:ext cx="457200" cy="0"/>
          </a:xfrm>
          <a:prstGeom prst="line">
            <a:avLst/>
          </a:prstGeom>
          <a:noFill/>
          <a:ln w="19050">
            <a:solidFill>
              <a:srgbClr val="1E2761"/>
            </a:solidFill>
            <a:prstDash val="solid"/>
          </a:ln>
        </p:spPr>
        <p:txBody>
          <a:bodyPr/>
          <a:lstStyle/>
          <a:p>
            <a:endParaRPr lang="en-US"/>
          </a:p>
        </p:txBody>
      </p:sp>
      <p:sp>
        <p:nvSpPr>
          <p:cNvPr id="35" name="Shape 33"/>
          <p:cNvSpPr/>
          <p:nvPr/>
        </p:nvSpPr>
        <p:spPr>
          <a:xfrm>
            <a:off x="2834640" y="5458968"/>
            <a:ext cx="457200" cy="0"/>
          </a:xfrm>
          <a:prstGeom prst="line">
            <a:avLst/>
          </a:prstGeom>
          <a:noFill/>
          <a:ln w="19050">
            <a:solidFill>
              <a:srgbClr val="1E2761"/>
            </a:solidFill>
            <a:prstDash val="solid"/>
          </a:ln>
        </p:spPr>
        <p:txBody>
          <a:bodyPr/>
          <a:lstStyle/>
          <a:p>
            <a:endParaRPr lang="en-US"/>
          </a:p>
        </p:txBody>
      </p:sp>
      <p:sp>
        <p:nvSpPr>
          <p:cNvPr id="36" name="Shape 34"/>
          <p:cNvSpPr/>
          <p:nvPr/>
        </p:nvSpPr>
        <p:spPr>
          <a:xfrm>
            <a:off x="2834640" y="5458968"/>
            <a:ext cx="457200" cy="0"/>
          </a:xfrm>
          <a:prstGeom prst="line">
            <a:avLst/>
          </a:prstGeom>
          <a:noFill/>
          <a:ln w="19050">
            <a:solidFill>
              <a:srgbClr val="1E2761"/>
            </a:solidFill>
            <a:prstDash val="solid"/>
          </a:ln>
        </p:spPr>
        <p:txBody>
          <a:bodyPr/>
          <a:lstStyle/>
          <a:p>
            <a:endParaRPr lang="en-US"/>
          </a:p>
        </p:txBody>
      </p:sp>
      <p:sp>
        <p:nvSpPr>
          <p:cNvPr id="37" name="Shape 35"/>
          <p:cNvSpPr/>
          <p:nvPr/>
        </p:nvSpPr>
        <p:spPr>
          <a:xfrm>
            <a:off x="3291840" y="5349240"/>
            <a:ext cx="274320" cy="228600"/>
          </a:xfrm>
          <a:prstGeom prst="rightArrow">
            <a:avLst/>
          </a:prstGeom>
          <a:solidFill>
            <a:srgbClr val="1E2761"/>
          </a:solidFill>
          <a:ln/>
        </p:spPr>
        <p:txBody>
          <a:bodyPr/>
          <a:lstStyle/>
          <a:p>
            <a:endParaRPr lang="en-US"/>
          </a:p>
        </p:txBody>
      </p:sp>
      <p:sp>
        <p:nvSpPr>
          <p:cNvPr id="38" name="Shape 36"/>
          <p:cNvSpPr/>
          <p:nvPr/>
        </p:nvSpPr>
        <p:spPr>
          <a:xfrm>
            <a:off x="3840480" y="4846320"/>
            <a:ext cx="2103120" cy="960120"/>
          </a:xfrm>
          <a:prstGeom prst="roundRect">
            <a:avLst/>
          </a:prstGeom>
          <a:solidFill>
            <a:srgbClr val="F5F7FB"/>
          </a:solidFill>
          <a:ln w="19050">
            <a:solidFill>
              <a:srgbClr val="8B5CF6"/>
            </a:solidFill>
            <a:prstDash val="solid"/>
          </a:ln>
        </p:spPr>
        <p:txBody>
          <a:bodyPr/>
          <a:lstStyle/>
          <a:p>
            <a:endParaRPr lang="en-US"/>
          </a:p>
        </p:txBody>
      </p:sp>
      <p:sp>
        <p:nvSpPr>
          <p:cNvPr id="39" name="Text 37"/>
          <p:cNvSpPr/>
          <p:nvPr/>
        </p:nvSpPr>
        <p:spPr>
          <a:xfrm>
            <a:off x="3840480" y="4892040"/>
            <a:ext cx="2103120" cy="365760"/>
          </a:xfrm>
          <a:prstGeom prst="rect">
            <a:avLst/>
          </a:prstGeom>
          <a:noFill/>
          <a:ln/>
        </p:spPr>
        <p:txBody>
          <a:bodyPr wrap="square" rtlCol="0" anchor="ctr"/>
          <a:lstStyle/>
          <a:p>
            <a:pPr marL="0" indent="0" algn="ctr">
              <a:buNone/>
            </a:pPr>
            <a:r>
              <a:rPr lang="en-US" sz="1300" b="1" kern="0" spc="100" dirty="0">
                <a:solidFill>
                  <a:srgbClr val="8B5CF6"/>
                </a:solidFill>
                <a:latin typeface="Calibri" pitchFamily="34" charset="0"/>
                <a:ea typeface="Calibri" pitchFamily="34" charset="-122"/>
                <a:cs typeface="Calibri" pitchFamily="34" charset="-120"/>
              </a:rPr>
              <a:t>RAW</a:t>
            </a:r>
            <a:endParaRPr lang="en-US" sz="1300" dirty="0"/>
          </a:p>
        </p:txBody>
      </p:sp>
      <p:sp>
        <p:nvSpPr>
          <p:cNvPr id="40" name="Text 38"/>
          <p:cNvSpPr/>
          <p:nvPr/>
        </p:nvSpPr>
        <p:spPr>
          <a:xfrm>
            <a:off x="3840480" y="5303520"/>
            <a:ext cx="2103120" cy="502920"/>
          </a:xfrm>
          <a:prstGeom prst="rect">
            <a:avLst/>
          </a:prstGeom>
          <a:noFill/>
          <a:ln/>
        </p:spPr>
        <p:txBody>
          <a:bodyPr wrap="square" rtlCol="0" anchor="ctr"/>
          <a:lstStyle/>
          <a:p>
            <a:pPr marL="0" indent="0" algn="ctr">
              <a:buNone/>
            </a:pPr>
            <a:r>
              <a:rPr lang="en-US" sz="900" dirty="0">
                <a:solidFill>
                  <a:srgbClr val="0F1A3D"/>
                </a:solidFill>
                <a:latin typeface="Calibri" pitchFamily="34" charset="0"/>
                <a:ea typeface="Calibri" pitchFamily="34" charset="-122"/>
                <a:cs typeface="Calibri" pitchFamily="34" charset="-120"/>
              </a:rPr>
              <a:t>Untouched source</a:t>
            </a:r>
            <a:endParaRPr lang="en-US" sz="900" dirty="0"/>
          </a:p>
          <a:p>
            <a:pPr marL="0" indent="0" algn="ctr">
              <a:buNone/>
            </a:pPr>
            <a:r>
              <a:rPr lang="en-US" sz="900" dirty="0">
                <a:solidFill>
                  <a:srgbClr val="0F1A3D"/>
                </a:solidFill>
                <a:latin typeface="Calibri" pitchFamily="34" charset="0"/>
                <a:ea typeface="Calibri" pitchFamily="34" charset="-122"/>
                <a:cs typeface="Calibri" pitchFamily="34" charset="-120"/>
              </a:rPr>
              <a:t>data</a:t>
            </a:r>
            <a:endParaRPr lang="en-US" sz="900" dirty="0"/>
          </a:p>
        </p:txBody>
      </p:sp>
      <p:sp>
        <p:nvSpPr>
          <p:cNvPr id="41" name="Shape 39"/>
          <p:cNvSpPr/>
          <p:nvPr/>
        </p:nvSpPr>
        <p:spPr>
          <a:xfrm>
            <a:off x="5989320" y="5212080"/>
            <a:ext cx="320040" cy="228600"/>
          </a:xfrm>
          <a:prstGeom prst="rightArrow">
            <a:avLst/>
          </a:prstGeom>
          <a:solidFill>
            <a:srgbClr val="64748B"/>
          </a:solidFill>
          <a:ln/>
        </p:spPr>
        <p:txBody>
          <a:bodyPr/>
          <a:lstStyle/>
          <a:p>
            <a:endParaRPr lang="en-US"/>
          </a:p>
        </p:txBody>
      </p:sp>
      <p:sp>
        <p:nvSpPr>
          <p:cNvPr id="42" name="Shape 40"/>
          <p:cNvSpPr/>
          <p:nvPr/>
        </p:nvSpPr>
        <p:spPr>
          <a:xfrm>
            <a:off x="6675120" y="4846320"/>
            <a:ext cx="2103120" cy="960120"/>
          </a:xfrm>
          <a:prstGeom prst="roundRect">
            <a:avLst/>
          </a:prstGeom>
          <a:solidFill>
            <a:srgbClr val="F5F7FB"/>
          </a:solidFill>
          <a:ln w="19050">
            <a:solidFill>
              <a:srgbClr val="0EA5E9"/>
            </a:solidFill>
            <a:prstDash val="solid"/>
          </a:ln>
        </p:spPr>
        <p:txBody>
          <a:bodyPr/>
          <a:lstStyle/>
          <a:p>
            <a:endParaRPr lang="en-US"/>
          </a:p>
        </p:txBody>
      </p:sp>
      <p:sp>
        <p:nvSpPr>
          <p:cNvPr id="43" name="Text 41"/>
          <p:cNvSpPr/>
          <p:nvPr/>
        </p:nvSpPr>
        <p:spPr>
          <a:xfrm>
            <a:off x="6675120" y="4892040"/>
            <a:ext cx="2103120" cy="365760"/>
          </a:xfrm>
          <a:prstGeom prst="rect">
            <a:avLst/>
          </a:prstGeom>
          <a:noFill/>
          <a:ln/>
        </p:spPr>
        <p:txBody>
          <a:bodyPr wrap="square" rtlCol="0" anchor="ctr"/>
          <a:lstStyle/>
          <a:p>
            <a:pPr marL="0" indent="0" algn="ctr">
              <a:buNone/>
            </a:pPr>
            <a:r>
              <a:rPr lang="en-US" sz="1300" b="1" kern="0" spc="100" dirty="0">
                <a:solidFill>
                  <a:srgbClr val="0EA5E9"/>
                </a:solidFill>
                <a:latin typeface="Calibri" pitchFamily="34" charset="0"/>
                <a:ea typeface="Calibri" pitchFamily="34" charset="-122"/>
                <a:cs typeface="Calibri" pitchFamily="34" charset="-120"/>
              </a:rPr>
              <a:t>STAGE</a:t>
            </a:r>
            <a:endParaRPr lang="en-US" sz="1300" dirty="0"/>
          </a:p>
        </p:txBody>
      </p:sp>
      <p:sp>
        <p:nvSpPr>
          <p:cNvPr id="44" name="Text 42"/>
          <p:cNvSpPr/>
          <p:nvPr/>
        </p:nvSpPr>
        <p:spPr>
          <a:xfrm>
            <a:off x="6675120" y="5303520"/>
            <a:ext cx="2103120" cy="502920"/>
          </a:xfrm>
          <a:prstGeom prst="rect">
            <a:avLst/>
          </a:prstGeom>
          <a:noFill/>
          <a:ln/>
        </p:spPr>
        <p:txBody>
          <a:bodyPr wrap="square" rtlCol="0" anchor="ctr"/>
          <a:lstStyle/>
          <a:p>
            <a:pPr marL="0" indent="0" algn="ctr">
              <a:buNone/>
            </a:pPr>
            <a:r>
              <a:rPr lang="en-US" sz="900" dirty="0">
                <a:solidFill>
                  <a:srgbClr val="0F1A3D"/>
                </a:solidFill>
                <a:latin typeface="Calibri" pitchFamily="34" charset="0"/>
                <a:ea typeface="Calibri" pitchFamily="34" charset="-122"/>
                <a:cs typeface="Calibri" pitchFamily="34" charset="-120"/>
              </a:rPr>
              <a:t>Validated &amp;</a:t>
            </a:r>
            <a:endParaRPr lang="en-US" sz="900" dirty="0"/>
          </a:p>
          <a:p>
            <a:pPr marL="0" indent="0" algn="ctr">
              <a:buNone/>
            </a:pPr>
            <a:r>
              <a:rPr lang="en-US" sz="900" dirty="0">
                <a:solidFill>
                  <a:srgbClr val="0F1A3D"/>
                </a:solidFill>
                <a:latin typeface="Calibri" pitchFamily="34" charset="0"/>
                <a:ea typeface="Calibri" pitchFamily="34" charset="-122"/>
                <a:cs typeface="Calibri" pitchFamily="34" charset="-120"/>
              </a:rPr>
              <a:t>conformed</a:t>
            </a:r>
            <a:endParaRPr lang="en-US" sz="900" dirty="0"/>
          </a:p>
        </p:txBody>
      </p:sp>
      <p:sp>
        <p:nvSpPr>
          <p:cNvPr id="45" name="Shape 43"/>
          <p:cNvSpPr/>
          <p:nvPr/>
        </p:nvSpPr>
        <p:spPr>
          <a:xfrm>
            <a:off x="8823960" y="5212080"/>
            <a:ext cx="320040" cy="228600"/>
          </a:xfrm>
          <a:prstGeom prst="rightArrow">
            <a:avLst/>
          </a:prstGeom>
          <a:solidFill>
            <a:srgbClr val="64748B"/>
          </a:solidFill>
          <a:ln/>
        </p:spPr>
        <p:txBody>
          <a:bodyPr/>
          <a:lstStyle/>
          <a:p>
            <a:endParaRPr lang="en-US"/>
          </a:p>
        </p:txBody>
      </p:sp>
      <p:sp>
        <p:nvSpPr>
          <p:cNvPr id="46" name="Shape 44"/>
          <p:cNvSpPr/>
          <p:nvPr/>
        </p:nvSpPr>
        <p:spPr>
          <a:xfrm>
            <a:off x="9509760" y="4846320"/>
            <a:ext cx="2103120" cy="960120"/>
          </a:xfrm>
          <a:prstGeom prst="roundRect">
            <a:avLst/>
          </a:prstGeom>
          <a:solidFill>
            <a:srgbClr val="F5F7FB"/>
          </a:solidFill>
          <a:ln w="19050">
            <a:solidFill>
              <a:srgbClr val="22C55E"/>
            </a:solidFill>
            <a:prstDash val="solid"/>
          </a:ln>
        </p:spPr>
        <p:txBody>
          <a:bodyPr/>
          <a:lstStyle/>
          <a:p>
            <a:endParaRPr lang="en-US"/>
          </a:p>
        </p:txBody>
      </p:sp>
      <p:sp>
        <p:nvSpPr>
          <p:cNvPr id="47" name="Text 45"/>
          <p:cNvSpPr/>
          <p:nvPr/>
        </p:nvSpPr>
        <p:spPr>
          <a:xfrm>
            <a:off x="9509760" y="4892040"/>
            <a:ext cx="2103120" cy="365760"/>
          </a:xfrm>
          <a:prstGeom prst="rect">
            <a:avLst/>
          </a:prstGeom>
          <a:noFill/>
          <a:ln/>
        </p:spPr>
        <p:txBody>
          <a:bodyPr wrap="square" rtlCol="0" anchor="ctr"/>
          <a:lstStyle/>
          <a:p>
            <a:pPr marL="0" indent="0" algn="ctr">
              <a:buNone/>
            </a:pPr>
            <a:r>
              <a:rPr lang="en-US" sz="1300" b="1" kern="0" spc="100" dirty="0">
                <a:solidFill>
                  <a:srgbClr val="22C55E"/>
                </a:solidFill>
                <a:latin typeface="Calibri" pitchFamily="34" charset="0"/>
                <a:ea typeface="Calibri" pitchFamily="34" charset="-122"/>
                <a:cs typeface="Calibri" pitchFamily="34" charset="-120"/>
              </a:rPr>
              <a:t>REPORTING</a:t>
            </a:r>
            <a:endParaRPr lang="en-US" sz="1300" dirty="0"/>
          </a:p>
        </p:txBody>
      </p:sp>
      <p:sp>
        <p:nvSpPr>
          <p:cNvPr id="48" name="Text 46"/>
          <p:cNvSpPr/>
          <p:nvPr/>
        </p:nvSpPr>
        <p:spPr>
          <a:xfrm>
            <a:off x="9509760" y="5303520"/>
            <a:ext cx="2103120" cy="502920"/>
          </a:xfrm>
          <a:prstGeom prst="rect">
            <a:avLst/>
          </a:prstGeom>
          <a:noFill/>
          <a:ln/>
        </p:spPr>
        <p:txBody>
          <a:bodyPr wrap="square" rtlCol="0" anchor="ctr"/>
          <a:lstStyle/>
          <a:p>
            <a:pPr marL="0" indent="0" algn="ctr">
              <a:buNone/>
            </a:pPr>
            <a:r>
              <a:rPr lang="en-US" sz="900" dirty="0">
                <a:solidFill>
                  <a:srgbClr val="0F1A3D"/>
                </a:solidFill>
                <a:latin typeface="Calibri" pitchFamily="34" charset="0"/>
                <a:ea typeface="Calibri" pitchFamily="34" charset="-122"/>
                <a:cs typeface="Calibri" pitchFamily="34" charset="-120"/>
              </a:rPr>
              <a:t>Curated marts</a:t>
            </a:r>
            <a:endParaRPr lang="en-US" sz="900" dirty="0"/>
          </a:p>
          <a:p>
            <a:pPr marL="0" indent="0" algn="ctr">
              <a:buNone/>
            </a:pPr>
            <a:r>
              <a:rPr lang="en-US" sz="900" dirty="0">
                <a:solidFill>
                  <a:srgbClr val="0F1A3D"/>
                </a:solidFill>
                <a:latin typeface="Calibri" pitchFamily="34" charset="0"/>
                <a:ea typeface="Calibri" pitchFamily="34" charset="-122"/>
                <a:cs typeface="Calibri" pitchFamily="34" charset="-120"/>
              </a:rPr>
              <a:t>for BI</a:t>
            </a:r>
            <a:endParaRPr lang="en-US" sz="900" dirty="0"/>
          </a:p>
        </p:txBody>
      </p:sp>
      <p:sp>
        <p:nvSpPr>
          <p:cNvPr id="50" name="Shape 47"/>
          <p:cNvSpPr/>
          <p:nvPr/>
        </p:nvSpPr>
        <p:spPr>
          <a:xfrm>
            <a:off x="0" y="6675120"/>
            <a:ext cx="12188952" cy="182880"/>
          </a:xfrm>
          <a:prstGeom prst="rect">
            <a:avLst/>
          </a:prstGeom>
          <a:solidFill>
            <a:srgbClr val="1E2761"/>
          </a:solidFill>
          <a:ln/>
        </p:spPr>
        <p:txBody>
          <a:bodyPr/>
          <a:lstStyle/>
          <a:p>
            <a:endParaRPr lang="en-US"/>
          </a:p>
        </p:txBody>
      </p:sp>
      <p:sp>
        <p:nvSpPr>
          <p:cNvPr id="51" name="Text 48"/>
          <p:cNvSpPr/>
          <p:nvPr/>
        </p:nvSpPr>
        <p:spPr>
          <a:xfrm>
            <a:off x="274320" y="6446520"/>
            <a:ext cx="73152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ARIA Data Pipeline  •  Snowflake + dbt + Soda</a:t>
            </a:r>
            <a:endParaRPr lang="en-US" sz="900" dirty="0"/>
          </a:p>
        </p:txBody>
      </p:sp>
      <p:sp>
        <p:nvSpPr>
          <p:cNvPr id="52" name="Text 49"/>
          <p:cNvSpPr/>
          <p:nvPr/>
        </p:nvSpPr>
        <p:spPr>
          <a:xfrm>
            <a:off x="11612880" y="6446520"/>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96167"/>
          </a:solidFill>
          <a:ln/>
        </p:spPr>
        <p:txBody>
          <a:bodyPr/>
          <a:lstStyle/>
          <a:p>
            <a:endParaRPr lang="en-US"/>
          </a:p>
        </p:txBody>
      </p:sp>
      <p:sp>
        <p:nvSpPr>
          <p:cNvPr id="3" name="Text 1"/>
          <p:cNvSpPr/>
          <p:nvPr/>
        </p:nvSpPr>
        <p:spPr>
          <a:xfrm>
            <a:off x="457200" y="228600"/>
            <a:ext cx="10972800" cy="274320"/>
          </a:xfrm>
          <a:prstGeom prst="rect">
            <a:avLst/>
          </a:prstGeom>
          <a:noFill/>
          <a:ln/>
        </p:spPr>
        <p:txBody>
          <a:bodyPr wrap="square"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502920"/>
            <a:ext cx="10972800" cy="64008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End-to-End Flow &amp; Failure Points</a:t>
            </a:r>
            <a:endParaRPr lang="en-US" sz="3000" dirty="0"/>
          </a:p>
        </p:txBody>
      </p:sp>
      <p:sp>
        <p:nvSpPr>
          <p:cNvPr id="5" name="Shape 3"/>
          <p:cNvSpPr/>
          <p:nvPr/>
        </p:nvSpPr>
        <p:spPr>
          <a:xfrm>
            <a:off x="457200" y="1188720"/>
            <a:ext cx="1097280" cy="0"/>
          </a:xfrm>
          <a:prstGeom prst="line">
            <a:avLst/>
          </a:prstGeom>
          <a:noFill/>
          <a:ln w="25400">
            <a:solidFill>
              <a:srgbClr val="1E2761"/>
            </a:solidFill>
            <a:prstDash val="solid"/>
          </a:ln>
        </p:spPr>
        <p:txBody>
          <a:bodyPr/>
          <a:lstStyle/>
          <a:p>
            <a:endParaRPr lang="en-US"/>
          </a:p>
        </p:txBody>
      </p:sp>
      <p:sp>
        <p:nvSpPr>
          <p:cNvPr id="6" name="Shape 4"/>
          <p:cNvSpPr/>
          <p:nvPr/>
        </p:nvSpPr>
        <p:spPr>
          <a:xfrm>
            <a:off x="365760" y="1554480"/>
            <a:ext cx="1463040" cy="3291840"/>
          </a:xfrm>
          <a:prstGeom prst="rect">
            <a:avLst/>
          </a:prstGeom>
          <a:solidFill>
            <a:srgbClr val="1E2761"/>
          </a:solidFill>
          <a:ln/>
        </p:spPr>
        <p:txBody>
          <a:bodyPr/>
          <a:lstStyle/>
          <a:p>
            <a:endParaRPr lang="en-US"/>
          </a:p>
        </p:txBody>
      </p:sp>
      <p:sp>
        <p:nvSpPr>
          <p:cNvPr id="7" name="Text 5"/>
          <p:cNvSpPr/>
          <p:nvPr/>
        </p:nvSpPr>
        <p:spPr>
          <a:xfrm>
            <a:off x="365760" y="1554480"/>
            <a:ext cx="1463040" cy="411480"/>
          </a:xfrm>
          <a:prstGeom prst="rect">
            <a:avLst/>
          </a:prstGeom>
          <a:noFill/>
          <a:ln/>
        </p:spPr>
        <p:txBody>
          <a:bodyPr wrap="square"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STAGES</a:t>
            </a:r>
            <a:endParaRPr lang="en-US" sz="1100" dirty="0"/>
          </a:p>
        </p:txBody>
      </p:sp>
      <p:sp>
        <p:nvSpPr>
          <p:cNvPr id="8" name="Text 6"/>
          <p:cNvSpPr/>
          <p:nvPr/>
        </p:nvSpPr>
        <p:spPr>
          <a:xfrm>
            <a:off x="365760" y="196596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p>
        </p:txBody>
      </p:sp>
      <p:sp>
        <p:nvSpPr>
          <p:cNvPr id="9" name="Shape 7"/>
          <p:cNvSpPr/>
          <p:nvPr/>
        </p:nvSpPr>
        <p:spPr>
          <a:xfrm>
            <a:off x="365760" y="2514600"/>
            <a:ext cx="1463040" cy="0"/>
          </a:xfrm>
          <a:prstGeom prst="line">
            <a:avLst/>
          </a:prstGeom>
          <a:noFill/>
          <a:ln w="6350">
            <a:solidFill>
              <a:srgbClr val="CADCFC"/>
            </a:solidFill>
            <a:prstDash val="solid"/>
          </a:ln>
        </p:spPr>
        <p:txBody>
          <a:bodyPr/>
          <a:lstStyle/>
          <a:p>
            <a:endParaRPr lang="en-US"/>
          </a:p>
        </p:txBody>
      </p:sp>
      <p:sp>
        <p:nvSpPr>
          <p:cNvPr id="10" name="Text 8"/>
          <p:cNvSpPr/>
          <p:nvPr/>
        </p:nvSpPr>
        <p:spPr>
          <a:xfrm>
            <a:off x="365760" y="2542032"/>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Ingest</a:t>
            </a:r>
            <a:endParaRPr lang="en-US" sz="1100" dirty="0"/>
          </a:p>
        </p:txBody>
      </p:sp>
      <p:sp>
        <p:nvSpPr>
          <p:cNvPr id="11" name="Shape 9"/>
          <p:cNvSpPr/>
          <p:nvPr/>
        </p:nvSpPr>
        <p:spPr>
          <a:xfrm>
            <a:off x="365760" y="3090672"/>
            <a:ext cx="1463040" cy="0"/>
          </a:xfrm>
          <a:prstGeom prst="line">
            <a:avLst/>
          </a:prstGeom>
          <a:noFill/>
          <a:ln w="6350">
            <a:solidFill>
              <a:srgbClr val="CADCFC"/>
            </a:solidFill>
            <a:prstDash val="solid"/>
          </a:ln>
        </p:spPr>
        <p:txBody>
          <a:bodyPr/>
          <a:lstStyle/>
          <a:p>
            <a:endParaRPr lang="en-US"/>
          </a:p>
        </p:txBody>
      </p:sp>
      <p:sp>
        <p:nvSpPr>
          <p:cNvPr id="12" name="Text 10"/>
          <p:cNvSpPr/>
          <p:nvPr/>
        </p:nvSpPr>
        <p:spPr>
          <a:xfrm>
            <a:off x="365760" y="3118104"/>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Quality</a:t>
            </a:r>
            <a:endParaRPr lang="en-US" sz="1100" dirty="0"/>
          </a:p>
        </p:txBody>
      </p:sp>
      <p:sp>
        <p:nvSpPr>
          <p:cNvPr id="13" name="Shape 11"/>
          <p:cNvSpPr/>
          <p:nvPr/>
        </p:nvSpPr>
        <p:spPr>
          <a:xfrm>
            <a:off x="365760" y="3666744"/>
            <a:ext cx="1463040" cy="0"/>
          </a:xfrm>
          <a:prstGeom prst="line">
            <a:avLst/>
          </a:prstGeom>
          <a:noFill/>
          <a:ln w="6350">
            <a:solidFill>
              <a:srgbClr val="CADCFC"/>
            </a:solidFill>
            <a:prstDash val="solid"/>
          </a:ln>
        </p:spPr>
        <p:txBody>
          <a:bodyPr/>
          <a:lstStyle/>
          <a:p>
            <a:endParaRPr lang="en-US"/>
          </a:p>
        </p:txBody>
      </p:sp>
      <p:sp>
        <p:nvSpPr>
          <p:cNvPr id="14" name="Text 12"/>
          <p:cNvSpPr/>
          <p:nvPr/>
        </p:nvSpPr>
        <p:spPr>
          <a:xfrm>
            <a:off x="365760" y="3694176"/>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Transform</a:t>
            </a:r>
            <a:endParaRPr lang="en-US" sz="1100" dirty="0"/>
          </a:p>
        </p:txBody>
      </p:sp>
      <p:sp>
        <p:nvSpPr>
          <p:cNvPr id="15" name="Shape 13"/>
          <p:cNvSpPr/>
          <p:nvPr/>
        </p:nvSpPr>
        <p:spPr>
          <a:xfrm>
            <a:off x="365760" y="4242816"/>
            <a:ext cx="1463040" cy="0"/>
          </a:xfrm>
          <a:prstGeom prst="line">
            <a:avLst/>
          </a:prstGeom>
          <a:noFill/>
          <a:ln w="6350">
            <a:solidFill>
              <a:srgbClr val="CADCFC"/>
            </a:solidFill>
            <a:prstDash val="solid"/>
          </a:ln>
        </p:spPr>
        <p:txBody>
          <a:bodyPr/>
          <a:lstStyle/>
          <a:p>
            <a:endParaRPr lang="en-US"/>
          </a:p>
        </p:txBody>
      </p:sp>
      <p:sp>
        <p:nvSpPr>
          <p:cNvPr id="16" name="Text 14"/>
          <p:cNvSpPr/>
          <p:nvPr/>
        </p:nvSpPr>
        <p:spPr>
          <a:xfrm>
            <a:off x="365760" y="4270248"/>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Publish</a:t>
            </a:r>
            <a:endParaRPr lang="en-US" sz="1100" dirty="0"/>
          </a:p>
        </p:txBody>
      </p:sp>
      <p:sp>
        <p:nvSpPr>
          <p:cNvPr id="17" name="Shape 15"/>
          <p:cNvSpPr/>
          <p:nvPr/>
        </p:nvSpPr>
        <p:spPr>
          <a:xfrm>
            <a:off x="365760" y="4818888"/>
            <a:ext cx="1463040" cy="0"/>
          </a:xfrm>
          <a:prstGeom prst="line">
            <a:avLst/>
          </a:prstGeom>
          <a:noFill/>
          <a:ln w="6350">
            <a:solidFill>
              <a:srgbClr val="CADCFC"/>
            </a:solidFill>
            <a:prstDash val="solid"/>
          </a:ln>
        </p:spPr>
        <p:txBody>
          <a:bodyPr/>
          <a:lstStyle/>
          <a:p>
            <a:endParaRPr lang="en-US"/>
          </a:p>
        </p:txBody>
      </p:sp>
      <p:sp>
        <p:nvSpPr>
          <p:cNvPr id="18" name="Shape 16"/>
          <p:cNvSpPr/>
          <p:nvPr/>
        </p:nvSpPr>
        <p:spPr>
          <a:xfrm>
            <a:off x="2103120" y="2011680"/>
            <a:ext cx="1645920" cy="457200"/>
          </a:xfrm>
          <a:prstGeom prst="roundRect">
            <a:avLst>
              <a:gd name="adj" fmla="val 10000"/>
            </a:avLst>
          </a:prstGeom>
          <a:solidFill>
            <a:srgbClr val="64748B"/>
          </a:solidFill>
          <a:ln/>
        </p:spPr>
        <p:txBody>
          <a:bodyPr/>
          <a:lstStyle/>
          <a:p>
            <a:endParaRPr lang="en-US"/>
          </a:p>
        </p:txBody>
      </p:sp>
      <p:sp>
        <p:nvSpPr>
          <p:cNvPr id="19" name="Text 17"/>
          <p:cNvSpPr/>
          <p:nvPr/>
        </p:nvSpPr>
        <p:spPr>
          <a:xfrm>
            <a:off x="2103120" y="2011680"/>
            <a:ext cx="16459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CSV / XLSX</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on shared drive</a:t>
            </a:r>
            <a:endParaRPr lang="en-US" sz="1000" dirty="0"/>
          </a:p>
        </p:txBody>
      </p:sp>
      <p:sp>
        <p:nvSpPr>
          <p:cNvPr id="20" name="Shape 18"/>
          <p:cNvSpPr/>
          <p:nvPr/>
        </p:nvSpPr>
        <p:spPr>
          <a:xfrm>
            <a:off x="3931920" y="2587752"/>
            <a:ext cx="1645920" cy="457200"/>
          </a:xfrm>
          <a:prstGeom prst="roundRect">
            <a:avLst>
              <a:gd name="adj" fmla="val 10000"/>
            </a:avLst>
          </a:prstGeom>
          <a:solidFill>
            <a:srgbClr val="1E2761"/>
          </a:solidFill>
          <a:ln/>
        </p:spPr>
        <p:txBody>
          <a:bodyPr/>
          <a:lstStyle/>
          <a:p>
            <a:endParaRPr lang="en-US"/>
          </a:p>
        </p:txBody>
      </p:sp>
      <p:sp>
        <p:nvSpPr>
          <p:cNvPr id="21" name="Text 19"/>
          <p:cNvSpPr/>
          <p:nvPr/>
        </p:nvSpPr>
        <p:spPr>
          <a:xfrm>
            <a:off x="3931920" y="2587752"/>
            <a:ext cx="16459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Python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reader</a:t>
            </a:r>
            <a:endParaRPr lang="en-US" sz="1000" dirty="0"/>
          </a:p>
        </p:txBody>
      </p:sp>
      <p:sp>
        <p:nvSpPr>
          <p:cNvPr id="22" name="Shape 20"/>
          <p:cNvSpPr/>
          <p:nvPr/>
        </p:nvSpPr>
        <p:spPr>
          <a:xfrm>
            <a:off x="5760720" y="2587752"/>
            <a:ext cx="1645920" cy="457200"/>
          </a:xfrm>
          <a:prstGeom prst="roundRect">
            <a:avLst>
              <a:gd name="adj" fmla="val 10000"/>
            </a:avLst>
          </a:prstGeom>
          <a:solidFill>
            <a:srgbClr val="1E2761"/>
          </a:solidFill>
          <a:ln/>
        </p:spPr>
        <p:txBody>
          <a:bodyPr/>
          <a:lstStyle/>
          <a:p>
            <a:endParaRPr lang="en-US"/>
          </a:p>
        </p:txBody>
      </p:sp>
      <p:sp>
        <p:nvSpPr>
          <p:cNvPr id="23" name="Text 21"/>
          <p:cNvSpPr/>
          <p:nvPr/>
        </p:nvSpPr>
        <p:spPr>
          <a:xfrm>
            <a:off x="5760720" y="2587752"/>
            <a:ext cx="16459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Load to</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RAW</a:t>
            </a:r>
            <a:endParaRPr lang="en-US" sz="1000" dirty="0"/>
          </a:p>
        </p:txBody>
      </p:sp>
      <p:sp>
        <p:nvSpPr>
          <p:cNvPr id="24" name="Shape 22"/>
          <p:cNvSpPr/>
          <p:nvPr/>
        </p:nvSpPr>
        <p:spPr>
          <a:xfrm>
            <a:off x="7589520" y="3163824"/>
            <a:ext cx="1645920" cy="457200"/>
          </a:xfrm>
          <a:prstGeom prst="roundRect">
            <a:avLst>
              <a:gd name="adj" fmla="val 10000"/>
            </a:avLst>
          </a:prstGeom>
          <a:solidFill>
            <a:srgbClr val="F96167"/>
          </a:solidFill>
          <a:ln/>
        </p:spPr>
        <p:txBody>
          <a:bodyPr/>
          <a:lstStyle/>
          <a:p>
            <a:endParaRPr lang="en-US"/>
          </a:p>
        </p:txBody>
      </p:sp>
      <p:sp>
        <p:nvSpPr>
          <p:cNvPr id="25" name="Text 23"/>
          <p:cNvSpPr/>
          <p:nvPr/>
        </p:nvSpPr>
        <p:spPr>
          <a:xfrm>
            <a:off x="7589520" y="3163824"/>
            <a:ext cx="16459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Soda DQ</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Gate</a:t>
            </a:r>
            <a:endParaRPr lang="en-US" sz="1000" dirty="0"/>
          </a:p>
        </p:txBody>
      </p:sp>
      <p:sp>
        <p:nvSpPr>
          <p:cNvPr id="26" name="Shape 24"/>
          <p:cNvSpPr/>
          <p:nvPr/>
        </p:nvSpPr>
        <p:spPr>
          <a:xfrm>
            <a:off x="9418320" y="3739896"/>
            <a:ext cx="1645920" cy="457200"/>
          </a:xfrm>
          <a:prstGeom prst="roundRect">
            <a:avLst>
              <a:gd name="adj" fmla="val 10000"/>
            </a:avLst>
          </a:prstGeom>
          <a:solidFill>
            <a:srgbClr val="0EA5E9"/>
          </a:solidFill>
          <a:ln/>
        </p:spPr>
        <p:txBody>
          <a:bodyPr/>
          <a:lstStyle/>
          <a:p>
            <a:endParaRPr lang="en-US"/>
          </a:p>
        </p:txBody>
      </p:sp>
      <p:sp>
        <p:nvSpPr>
          <p:cNvPr id="27" name="Text 25"/>
          <p:cNvSpPr/>
          <p:nvPr/>
        </p:nvSpPr>
        <p:spPr>
          <a:xfrm>
            <a:off x="9418320" y="3739896"/>
            <a:ext cx="16459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dbt build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STAGE</a:t>
            </a:r>
            <a:endParaRPr lang="en-US" sz="1000" dirty="0"/>
          </a:p>
        </p:txBody>
      </p:sp>
      <p:sp>
        <p:nvSpPr>
          <p:cNvPr id="28" name="Shape 26"/>
          <p:cNvSpPr/>
          <p:nvPr/>
        </p:nvSpPr>
        <p:spPr>
          <a:xfrm>
            <a:off x="9692640" y="4315968"/>
            <a:ext cx="1645920" cy="457200"/>
          </a:xfrm>
          <a:prstGeom prst="roundRect">
            <a:avLst>
              <a:gd name="adj" fmla="val 10000"/>
            </a:avLst>
          </a:prstGeom>
          <a:solidFill>
            <a:srgbClr val="22C55E"/>
          </a:solidFill>
          <a:ln/>
        </p:spPr>
        <p:txBody>
          <a:bodyPr/>
          <a:lstStyle/>
          <a:p>
            <a:endParaRPr lang="en-US"/>
          </a:p>
        </p:txBody>
      </p:sp>
      <p:sp>
        <p:nvSpPr>
          <p:cNvPr id="29" name="Text 27"/>
          <p:cNvSpPr/>
          <p:nvPr/>
        </p:nvSpPr>
        <p:spPr>
          <a:xfrm>
            <a:off x="9692640" y="4315968"/>
            <a:ext cx="16459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Publish to</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REPORTING</a:t>
            </a:r>
            <a:endParaRPr lang="en-US" sz="1000" dirty="0"/>
          </a:p>
        </p:txBody>
      </p:sp>
      <p:sp>
        <p:nvSpPr>
          <p:cNvPr id="30" name="Shape 28"/>
          <p:cNvSpPr/>
          <p:nvPr/>
        </p:nvSpPr>
        <p:spPr>
          <a:xfrm>
            <a:off x="2926080" y="2468880"/>
            <a:ext cx="1828800" cy="118872"/>
          </a:xfrm>
          <a:prstGeom prst="line">
            <a:avLst/>
          </a:prstGeom>
          <a:noFill/>
          <a:ln w="19050">
            <a:solidFill>
              <a:srgbClr val="0F1A3D"/>
            </a:solidFill>
            <a:prstDash val="solid"/>
            <a:tailEnd type="triangle"/>
          </a:ln>
        </p:spPr>
        <p:txBody>
          <a:bodyPr/>
          <a:lstStyle/>
          <a:p>
            <a:endParaRPr lang="en-US"/>
          </a:p>
        </p:txBody>
      </p:sp>
      <p:sp>
        <p:nvSpPr>
          <p:cNvPr id="31" name="Shape 29"/>
          <p:cNvSpPr/>
          <p:nvPr/>
        </p:nvSpPr>
        <p:spPr>
          <a:xfrm>
            <a:off x="5577840" y="2697480"/>
            <a:ext cx="182880" cy="0"/>
          </a:xfrm>
          <a:prstGeom prst="line">
            <a:avLst/>
          </a:prstGeom>
          <a:noFill/>
          <a:ln w="19050">
            <a:solidFill>
              <a:srgbClr val="0F1A3D"/>
            </a:solidFill>
            <a:prstDash val="solid"/>
            <a:tailEnd type="triangle"/>
          </a:ln>
        </p:spPr>
        <p:txBody>
          <a:bodyPr/>
          <a:lstStyle/>
          <a:p>
            <a:endParaRPr lang="en-US"/>
          </a:p>
        </p:txBody>
      </p:sp>
      <p:sp>
        <p:nvSpPr>
          <p:cNvPr id="32" name="Shape 30"/>
          <p:cNvSpPr/>
          <p:nvPr/>
        </p:nvSpPr>
        <p:spPr>
          <a:xfrm>
            <a:off x="6583680" y="2926080"/>
            <a:ext cx="1828800" cy="237744"/>
          </a:xfrm>
          <a:prstGeom prst="line">
            <a:avLst/>
          </a:prstGeom>
          <a:noFill/>
          <a:ln w="19050">
            <a:solidFill>
              <a:srgbClr val="0F1A3D"/>
            </a:solidFill>
            <a:prstDash val="solid"/>
            <a:tailEnd type="triangle"/>
          </a:ln>
        </p:spPr>
        <p:txBody>
          <a:bodyPr/>
          <a:lstStyle/>
          <a:p>
            <a:endParaRPr lang="en-US"/>
          </a:p>
        </p:txBody>
      </p:sp>
      <p:sp>
        <p:nvSpPr>
          <p:cNvPr id="33" name="Shape 31"/>
          <p:cNvSpPr/>
          <p:nvPr/>
        </p:nvSpPr>
        <p:spPr>
          <a:xfrm>
            <a:off x="8412480" y="3383280"/>
            <a:ext cx="1828800" cy="356616"/>
          </a:xfrm>
          <a:prstGeom prst="line">
            <a:avLst/>
          </a:prstGeom>
          <a:noFill/>
          <a:ln w="19050">
            <a:solidFill>
              <a:srgbClr val="0F1A3D"/>
            </a:solidFill>
            <a:prstDash val="solid"/>
            <a:tailEnd type="triangle"/>
          </a:ln>
        </p:spPr>
        <p:txBody>
          <a:bodyPr/>
          <a:lstStyle/>
          <a:p>
            <a:endParaRPr lang="en-US"/>
          </a:p>
        </p:txBody>
      </p:sp>
      <p:sp>
        <p:nvSpPr>
          <p:cNvPr id="34" name="Shape 32"/>
          <p:cNvSpPr/>
          <p:nvPr/>
        </p:nvSpPr>
        <p:spPr>
          <a:xfrm>
            <a:off x="10241280" y="3950208"/>
            <a:ext cx="274320" cy="365760"/>
          </a:xfrm>
          <a:prstGeom prst="line">
            <a:avLst/>
          </a:prstGeom>
          <a:noFill/>
          <a:ln w="19050">
            <a:solidFill>
              <a:srgbClr val="0F1A3D"/>
            </a:solidFill>
            <a:prstDash val="solid"/>
            <a:tailEnd type="triangle"/>
          </a:ln>
        </p:spPr>
        <p:txBody>
          <a:bodyPr/>
          <a:lstStyle/>
          <a:p>
            <a:endParaRPr lang="en-US"/>
          </a:p>
        </p:txBody>
      </p:sp>
      <p:sp>
        <p:nvSpPr>
          <p:cNvPr id="35" name="Shape 33"/>
          <p:cNvSpPr/>
          <p:nvPr/>
        </p:nvSpPr>
        <p:spPr>
          <a:xfrm>
            <a:off x="365760" y="5074920"/>
            <a:ext cx="11430000" cy="1280160"/>
          </a:xfrm>
          <a:prstGeom prst="roundRect">
            <a:avLst>
              <a:gd name="adj" fmla="val 5714"/>
            </a:avLst>
          </a:prstGeom>
          <a:solidFill>
            <a:srgbClr val="FFFFFF"/>
          </a:solidFill>
          <a:ln w="19050">
            <a:solidFill>
              <a:srgbClr val="F96167"/>
            </a:solidFill>
            <a:prstDash val="solid"/>
          </a:ln>
        </p:spPr>
        <p:txBody>
          <a:bodyPr/>
          <a:lstStyle/>
          <a:p>
            <a:endParaRPr lang="en-US"/>
          </a:p>
        </p:txBody>
      </p:sp>
      <p:sp>
        <p:nvSpPr>
          <p:cNvPr id="36" name="Text 34"/>
          <p:cNvSpPr/>
          <p:nvPr/>
        </p:nvSpPr>
        <p:spPr>
          <a:xfrm>
            <a:off x="548640" y="5120640"/>
            <a:ext cx="5486400" cy="365760"/>
          </a:xfrm>
          <a:prstGeom prst="rect">
            <a:avLst/>
          </a:prstGeom>
          <a:noFill/>
          <a:ln/>
        </p:spPr>
        <p:txBody>
          <a:bodyPr wrap="square" rtlCol="0" anchor="ctr"/>
          <a:lstStyle/>
          <a:p>
            <a:pPr marL="0" indent="0">
              <a:buNone/>
            </a:pPr>
            <a:r>
              <a:rPr lang="en-US" sz="1300" b="1" dirty="0">
                <a:solidFill>
                  <a:srgbClr val="F96167"/>
                </a:solidFill>
                <a:latin typeface="Calibri" pitchFamily="34" charset="0"/>
                <a:ea typeface="Calibri" pitchFamily="34" charset="-122"/>
                <a:cs typeface="Calibri" pitchFamily="34" charset="-120"/>
              </a:rPr>
              <a:t>⚠  Where Failures Can Occur</a:t>
            </a:r>
            <a:endParaRPr lang="en-US" sz="1300" dirty="0"/>
          </a:p>
        </p:txBody>
      </p:sp>
      <p:sp>
        <p:nvSpPr>
          <p:cNvPr id="37" name="Shape 35"/>
          <p:cNvSpPr/>
          <p:nvPr/>
        </p:nvSpPr>
        <p:spPr>
          <a:xfrm>
            <a:off x="548640" y="5532120"/>
            <a:ext cx="2103120" cy="320040"/>
          </a:xfrm>
          <a:prstGeom prst="roundRect">
            <a:avLst>
              <a:gd name="adj" fmla="val 11429"/>
            </a:avLst>
          </a:prstGeom>
          <a:solidFill>
            <a:srgbClr val="F96167"/>
          </a:solidFill>
          <a:ln/>
        </p:spPr>
        <p:txBody>
          <a:bodyPr/>
          <a:lstStyle/>
          <a:p>
            <a:endParaRPr lang="en-US"/>
          </a:p>
        </p:txBody>
      </p:sp>
      <p:sp>
        <p:nvSpPr>
          <p:cNvPr id="38" name="Text 36"/>
          <p:cNvSpPr/>
          <p:nvPr/>
        </p:nvSpPr>
        <p:spPr>
          <a:xfrm>
            <a:off x="548640" y="5532120"/>
            <a:ext cx="21031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p>
        </p:txBody>
      </p:sp>
      <p:sp>
        <p:nvSpPr>
          <p:cNvPr id="39" name="Text 37"/>
          <p:cNvSpPr/>
          <p:nvPr/>
        </p:nvSpPr>
        <p:spPr>
          <a:xfrm>
            <a:off x="548640" y="5897880"/>
            <a:ext cx="2103120" cy="411480"/>
          </a:xfrm>
          <a:prstGeom prst="rect">
            <a:avLst/>
          </a:prstGeom>
          <a:noFill/>
          <a:ln/>
        </p:spPr>
        <p:txBody>
          <a:bodyPr wrap="square" rtlCol="0" anchor="t"/>
          <a:lstStyle/>
          <a:p>
            <a:pPr marL="0" indent="0" algn="ctr">
              <a:buNone/>
            </a:pPr>
            <a:r>
              <a:rPr lang="en-US" sz="900" dirty="0">
                <a:solidFill>
                  <a:srgbClr val="0F1A3D"/>
                </a:solidFill>
                <a:latin typeface="Calibri" pitchFamily="34" charset="0"/>
                <a:ea typeface="Calibri" pitchFamily="34" charset="-122"/>
                <a:cs typeface="Calibri" pitchFamily="34" charset="-120"/>
              </a:rPr>
              <a:t>Missing files, encoding, schema drift</a:t>
            </a:r>
            <a:endParaRPr lang="en-US" sz="900" dirty="0"/>
          </a:p>
        </p:txBody>
      </p:sp>
      <p:sp>
        <p:nvSpPr>
          <p:cNvPr id="40" name="Shape 38"/>
          <p:cNvSpPr/>
          <p:nvPr/>
        </p:nvSpPr>
        <p:spPr>
          <a:xfrm>
            <a:off x="2788920" y="5532120"/>
            <a:ext cx="2103120" cy="320040"/>
          </a:xfrm>
          <a:prstGeom prst="roundRect">
            <a:avLst>
              <a:gd name="adj" fmla="val 11429"/>
            </a:avLst>
          </a:prstGeom>
          <a:solidFill>
            <a:srgbClr val="F96167"/>
          </a:solidFill>
          <a:ln/>
        </p:spPr>
        <p:txBody>
          <a:bodyPr/>
          <a:lstStyle/>
          <a:p>
            <a:endParaRPr lang="en-US"/>
          </a:p>
        </p:txBody>
      </p:sp>
      <p:sp>
        <p:nvSpPr>
          <p:cNvPr id="41" name="Text 39"/>
          <p:cNvSpPr/>
          <p:nvPr/>
        </p:nvSpPr>
        <p:spPr>
          <a:xfrm>
            <a:off x="2788920" y="5532120"/>
            <a:ext cx="21031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Ingest</a:t>
            </a:r>
            <a:endParaRPr lang="en-US" sz="1000" dirty="0"/>
          </a:p>
        </p:txBody>
      </p:sp>
      <p:sp>
        <p:nvSpPr>
          <p:cNvPr id="42" name="Text 40"/>
          <p:cNvSpPr/>
          <p:nvPr/>
        </p:nvSpPr>
        <p:spPr>
          <a:xfrm>
            <a:off x="2788920" y="5897880"/>
            <a:ext cx="2103120" cy="411480"/>
          </a:xfrm>
          <a:prstGeom prst="rect">
            <a:avLst/>
          </a:prstGeom>
          <a:noFill/>
          <a:ln/>
        </p:spPr>
        <p:txBody>
          <a:bodyPr wrap="square" rtlCol="0" anchor="t"/>
          <a:lstStyle/>
          <a:p>
            <a:pPr marL="0" indent="0" algn="ctr">
              <a:buNone/>
            </a:pPr>
            <a:r>
              <a:rPr lang="en-US" sz="900" dirty="0">
                <a:solidFill>
                  <a:srgbClr val="0F1A3D"/>
                </a:solidFill>
                <a:latin typeface="Calibri" pitchFamily="34" charset="0"/>
                <a:ea typeface="Calibri" pitchFamily="34" charset="-122"/>
                <a:cs typeface="Calibri" pitchFamily="34" charset="-120"/>
              </a:rPr>
              <a:t>Connector errors, network/permissions</a:t>
            </a:r>
            <a:endParaRPr lang="en-US" sz="900" dirty="0"/>
          </a:p>
        </p:txBody>
      </p:sp>
      <p:sp>
        <p:nvSpPr>
          <p:cNvPr id="43" name="Shape 41"/>
          <p:cNvSpPr/>
          <p:nvPr/>
        </p:nvSpPr>
        <p:spPr>
          <a:xfrm>
            <a:off x="5029200" y="5532120"/>
            <a:ext cx="2103120" cy="320040"/>
          </a:xfrm>
          <a:prstGeom prst="roundRect">
            <a:avLst>
              <a:gd name="adj" fmla="val 11429"/>
            </a:avLst>
          </a:prstGeom>
          <a:solidFill>
            <a:srgbClr val="F96167"/>
          </a:solidFill>
          <a:ln/>
        </p:spPr>
        <p:txBody>
          <a:bodyPr/>
          <a:lstStyle/>
          <a:p>
            <a:endParaRPr lang="en-US"/>
          </a:p>
        </p:txBody>
      </p:sp>
      <p:sp>
        <p:nvSpPr>
          <p:cNvPr id="44" name="Text 42"/>
          <p:cNvSpPr/>
          <p:nvPr/>
        </p:nvSpPr>
        <p:spPr>
          <a:xfrm>
            <a:off x="5029200" y="5532120"/>
            <a:ext cx="21031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Soda Gate</a:t>
            </a:r>
            <a:endParaRPr lang="en-US" sz="1000" dirty="0"/>
          </a:p>
        </p:txBody>
      </p:sp>
      <p:sp>
        <p:nvSpPr>
          <p:cNvPr id="45" name="Text 43"/>
          <p:cNvSpPr/>
          <p:nvPr/>
        </p:nvSpPr>
        <p:spPr>
          <a:xfrm>
            <a:off x="5029200" y="5897880"/>
            <a:ext cx="2103120" cy="411480"/>
          </a:xfrm>
          <a:prstGeom prst="rect">
            <a:avLst/>
          </a:prstGeom>
          <a:noFill/>
          <a:ln/>
        </p:spPr>
        <p:txBody>
          <a:bodyPr wrap="square" rtlCol="0" anchor="t"/>
          <a:lstStyle/>
          <a:p>
            <a:pPr marL="0" indent="0" algn="ctr">
              <a:buNone/>
            </a:pPr>
            <a:r>
              <a:rPr lang="en-US" sz="900" dirty="0">
                <a:solidFill>
                  <a:srgbClr val="0F1A3D"/>
                </a:solidFill>
                <a:latin typeface="Calibri" pitchFamily="34" charset="0"/>
                <a:ea typeface="Calibri" pitchFamily="34" charset="-122"/>
                <a:cs typeface="Calibri" pitchFamily="34" charset="-120"/>
              </a:rPr>
              <a:t>Nulls, dupes, schema mismatch → halt</a:t>
            </a:r>
            <a:endParaRPr lang="en-US" sz="900" dirty="0"/>
          </a:p>
        </p:txBody>
      </p:sp>
      <p:sp>
        <p:nvSpPr>
          <p:cNvPr id="46" name="Shape 44"/>
          <p:cNvSpPr/>
          <p:nvPr/>
        </p:nvSpPr>
        <p:spPr>
          <a:xfrm>
            <a:off x="7269480" y="5532120"/>
            <a:ext cx="2103120" cy="320040"/>
          </a:xfrm>
          <a:prstGeom prst="roundRect">
            <a:avLst>
              <a:gd name="adj" fmla="val 11429"/>
            </a:avLst>
          </a:prstGeom>
          <a:solidFill>
            <a:srgbClr val="F96167"/>
          </a:solidFill>
          <a:ln/>
        </p:spPr>
        <p:txBody>
          <a:bodyPr/>
          <a:lstStyle/>
          <a:p>
            <a:endParaRPr lang="en-US"/>
          </a:p>
        </p:txBody>
      </p:sp>
      <p:sp>
        <p:nvSpPr>
          <p:cNvPr id="47" name="Text 45"/>
          <p:cNvSpPr/>
          <p:nvPr/>
        </p:nvSpPr>
        <p:spPr>
          <a:xfrm>
            <a:off x="7269480" y="5532120"/>
            <a:ext cx="21031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dbt / STAGE</a:t>
            </a:r>
            <a:endParaRPr lang="en-US" sz="1000" dirty="0"/>
          </a:p>
        </p:txBody>
      </p:sp>
      <p:sp>
        <p:nvSpPr>
          <p:cNvPr id="48" name="Text 46"/>
          <p:cNvSpPr/>
          <p:nvPr/>
        </p:nvSpPr>
        <p:spPr>
          <a:xfrm>
            <a:off x="7269480" y="5897880"/>
            <a:ext cx="2103120" cy="411480"/>
          </a:xfrm>
          <a:prstGeom prst="rect">
            <a:avLst/>
          </a:prstGeom>
          <a:noFill/>
          <a:ln/>
        </p:spPr>
        <p:txBody>
          <a:bodyPr wrap="square" rtlCol="0" anchor="t"/>
          <a:lstStyle/>
          <a:p>
            <a:pPr marL="0" indent="0" algn="ctr">
              <a:buNone/>
            </a:pPr>
            <a:r>
              <a:rPr lang="en-US" sz="900" dirty="0">
                <a:solidFill>
                  <a:srgbClr val="0F1A3D"/>
                </a:solidFill>
                <a:latin typeface="Calibri" pitchFamily="34" charset="0"/>
                <a:ea typeface="Calibri" pitchFamily="34" charset="-122"/>
                <a:cs typeface="Calibri" pitchFamily="34" charset="-120"/>
              </a:rPr>
              <a:t>Test failures, business rule breaches</a:t>
            </a:r>
            <a:endParaRPr lang="en-US" sz="900" dirty="0"/>
          </a:p>
        </p:txBody>
      </p:sp>
      <p:sp>
        <p:nvSpPr>
          <p:cNvPr id="49" name="Shape 47"/>
          <p:cNvSpPr/>
          <p:nvPr/>
        </p:nvSpPr>
        <p:spPr>
          <a:xfrm>
            <a:off x="9509760" y="5532120"/>
            <a:ext cx="2103120" cy="320040"/>
          </a:xfrm>
          <a:prstGeom prst="roundRect">
            <a:avLst>
              <a:gd name="adj" fmla="val 11429"/>
            </a:avLst>
          </a:prstGeom>
          <a:solidFill>
            <a:srgbClr val="F96167"/>
          </a:solidFill>
          <a:ln/>
        </p:spPr>
        <p:txBody>
          <a:bodyPr/>
          <a:lstStyle/>
          <a:p>
            <a:endParaRPr lang="en-US"/>
          </a:p>
        </p:txBody>
      </p:sp>
      <p:sp>
        <p:nvSpPr>
          <p:cNvPr id="50" name="Text 48"/>
          <p:cNvSpPr/>
          <p:nvPr/>
        </p:nvSpPr>
        <p:spPr>
          <a:xfrm>
            <a:off x="9509760" y="5532120"/>
            <a:ext cx="21031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Reporting</a:t>
            </a:r>
            <a:endParaRPr lang="en-US" sz="1000" dirty="0"/>
          </a:p>
        </p:txBody>
      </p:sp>
      <p:sp>
        <p:nvSpPr>
          <p:cNvPr id="51" name="Text 49"/>
          <p:cNvSpPr/>
          <p:nvPr/>
        </p:nvSpPr>
        <p:spPr>
          <a:xfrm>
            <a:off x="9509760" y="5897880"/>
            <a:ext cx="2103120" cy="411480"/>
          </a:xfrm>
          <a:prstGeom prst="rect">
            <a:avLst/>
          </a:prstGeom>
          <a:noFill/>
          <a:ln/>
        </p:spPr>
        <p:txBody>
          <a:bodyPr wrap="square" rtlCol="0" anchor="t"/>
          <a:lstStyle/>
          <a:p>
            <a:pPr marL="0" indent="0" algn="ctr">
              <a:buNone/>
            </a:pPr>
            <a:r>
              <a:rPr lang="en-US" sz="900" dirty="0">
                <a:solidFill>
                  <a:srgbClr val="0F1A3D"/>
                </a:solidFill>
                <a:latin typeface="Calibri" pitchFamily="34" charset="0"/>
                <a:ea typeface="Calibri" pitchFamily="34" charset="-122"/>
                <a:cs typeface="Calibri" pitchFamily="34" charset="-120"/>
              </a:rPr>
              <a:t>Stale data, contract or access issues</a:t>
            </a:r>
            <a:endParaRPr lang="en-US" sz="900" dirty="0"/>
          </a:p>
        </p:txBody>
      </p:sp>
      <p:sp>
        <p:nvSpPr>
          <p:cNvPr id="53" name="Shape 50"/>
          <p:cNvSpPr/>
          <p:nvPr/>
        </p:nvSpPr>
        <p:spPr>
          <a:xfrm>
            <a:off x="0" y="6675120"/>
            <a:ext cx="12188952" cy="182880"/>
          </a:xfrm>
          <a:prstGeom prst="rect">
            <a:avLst/>
          </a:prstGeom>
          <a:solidFill>
            <a:srgbClr val="1E2761"/>
          </a:solidFill>
          <a:ln/>
        </p:spPr>
        <p:txBody>
          <a:bodyPr/>
          <a:lstStyle/>
          <a:p>
            <a:endParaRPr lang="en-US"/>
          </a:p>
        </p:txBody>
      </p:sp>
      <p:sp>
        <p:nvSpPr>
          <p:cNvPr id="54" name="Text 51"/>
          <p:cNvSpPr/>
          <p:nvPr/>
        </p:nvSpPr>
        <p:spPr>
          <a:xfrm>
            <a:off x="274320" y="6446520"/>
            <a:ext cx="73152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ARIA Data Pipeline  •  Snowflake + dbt + Soda</a:t>
            </a:r>
            <a:endParaRPr lang="en-US" sz="900" dirty="0"/>
          </a:p>
        </p:txBody>
      </p:sp>
      <p:sp>
        <p:nvSpPr>
          <p:cNvPr id="55" name="Text 52"/>
          <p:cNvSpPr/>
          <p:nvPr/>
        </p:nvSpPr>
        <p:spPr>
          <a:xfrm>
            <a:off x="11612880" y="6446520"/>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715</Words>
  <Application>Microsoft Office PowerPoint</Application>
  <PresentationFormat>Widescreen</PresentationFormat>
  <Paragraphs>176</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 Pipeline Architecture</dc:title>
  <dc:subject>PptxGenJS Presentation</dc:subject>
  <dc:creator>PptxGenJS</dc:creator>
  <cp:lastModifiedBy>Sai Mandhala</cp:lastModifiedBy>
  <cp:revision>2</cp:revision>
  <dcterms:created xsi:type="dcterms:W3CDTF">2026-04-29T04:38:10Z</dcterms:created>
  <dcterms:modified xsi:type="dcterms:W3CDTF">2026-04-29T05:07:31Z</dcterms:modified>
</cp:coreProperties>
</file>