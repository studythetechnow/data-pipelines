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8000" rIns="20000" bIns="800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DATA WAREHOUSE — END-TO-END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737360" y="777240"/>
            <a:ext cx="8579815" cy="868680"/>
          </a:xfrm>
          <a:prstGeom prst="rect">
            <a:avLst/>
          </a:prstGeom>
          <a:solidFill>
            <a:srgbClr val="F4F7FB"/>
          </a:solidFill>
          <a:ln w="6350">
            <a:solidFill>
              <a:srgbClr val="C2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8000" rIns="20000" bIns="8000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74320" y="777240"/>
            <a:ext cx="1417320" cy="868680"/>
          </a:xfrm>
          <a:prstGeom prst="roundRect">
            <a:avLst>
              <a:gd name="adj" fmla="val 8000"/>
            </a:avLst>
          </a:prstGeom>
          <a:solidFill>
            <a:srgbClr val="13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" tIns="8000" rIns="20000" bIns="8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360" y="1700784"/>
            <a:ext cx="8579815" cy="868680"/>
          </a:xfrm>
          <a:prstGeom prst="rect">
            <a:avLst/>
          </a:prstGeom>
          <a:solidFill>
            <a:srgbClr val="F4F7FB"/>
          </a:solidFill>
          <a:ln w="6350">
            <a:solidFill>
              <a:srgbClr val="C2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8000" rIns="20000" bIns="800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4320" y="1700784"/>
            <a:ext cx="1417320" cy="868680"/>
          </a:xfrm>
          <a:prstGeom prst="roundRect">
            <a:avLst>
              <a:gd name="adj" fmla="val 8000"/>
            </a:avLst>
          </a:prstGeom>
          <a:solidFill>
            <a:srgbClr val="13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" tIns="8000" rIns="20000" bIns="8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INGEST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2624328"/>
            <a:ext cx="8579815" cy="868680"/>
          </a:xfrm>
          <a:prstGeom prst="rect">
            <a:avLst/>
          </a:prstGeom>
          <a:solidFill>
            <a:srgbClr val="F4F7FB"/>
          </a:solidFill>
          <a:ln w="6350">
            <a:solidFill>
              <a:srgbClr val="C2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8000" rIns="20000" bIns="8000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4320" y="2624328"/>
            <a:ext cx="1417320" cy="868680"/>
          </a:xfrm>
          <a:prstGeom prst="roundRect">
            <a:avLst>
              <a:gd name="adj" fmla="val 8000"/>
            </a:avLst>
          </a:prstGeom>
          <a:solidFill>
            <a:srgbClr val="13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" tIns="8000" rIns="20000" bIns="8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3547872"/>
            <a:ext cx="8579815" cy="1627632"/>
          </a:xfrm>
          <a:prstGeom prst="rect">
            <a:avLst/>
          </a:prstGeom>
          <a:solidFill>
            <a:srgbClr val="F4F7FB"/>
          </a:solidFill>
          <a:ln w="6350">
            <a:solidFill>
              <a:srgbClr val="C2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8000" rIns="20000" bIns="8000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4320" y="3547872"/>
            <a:ext cx="1417320" cy="1627632"/>
          </a:xfrm>
          <a:prstGeom prst="roundRect">
            <a:avLst>
              <a:gd name="adj" fmla="val 8000"/>
            </a:avLst>
          </a:prstGeom>
          <a:solidFill>
            <a:srgbClr val="13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" tIns="8000" rIns="20000" bIns="8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ENGINES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(microservices)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5230368"/>
            <a:ext cx="8579815" cy="1371600"/>
          </a:xfrm>
          <a:prstGeom prst="rect">
            <a:avLst/>
          </a:prstGeom>
          <a:solidFill>
            <a:srgbClr val="F4F7FB"/>
          </a:solidFill>
          <a:ln w="6350">
            <a:solidFill>
              <a:srgbClr val="C2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8000" rIns="20000" bIns="8000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4320" y="5230368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13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" tIns="8000" rIns="20000" bIns="8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SERVE &amp;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74520" y="850392"/>
            <a:ext cx="2286000" cy="713232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8000" rIns="20000" bIns="8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External Systems / TA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DST · Aiviq · OneSDM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850392"/>
            <a:ext cx="2286000" cy="713232"/>
          </a:xfrm>
          <a:prstGeom prst="roundRect">
            <a:avLst>
              <a:gd name="adj" fmla="val 8000"/>
            </a:avLst>
          </a:prstGeom>
          <a:solidFill>
            <a:srgbClr val="0E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8000" rIns="20000" bIns="8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EDM (Vantage)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Enterprise Data Mgmt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850392"/>
            <a:ext cx="2286000" cy="713232"/>
          </a:xfrm>
          <a:prstGeom prst="roundRect">
            <a:avLst>
              <a:gd name="adj" fmla="val 8000"/>
            </a:avLst>
          </a:prstGeom>
          <a:solidFill>
            <a:srgbClr val="E7B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8000" rIns="20000" bIns="8000" rtlCol="0" anchor="ctr"/>
          <a:lstStyle/>
          <a:p>
            <a:pPr algn="ctr"/>
            <a:r>
              <a:rPr sz="1100" b="1">
                <a:solidFill>
                  <a:srgbClr val="1B2635"/>
                </a:solidFill>
                <a:latin typeface="Calibri"/>
              </a:rPr>
              <a:t>Custom Mapping Tool</a:t>
            </a:r>
          </a:p>
          <a:p>
            <a:pPr algn="ctr"/>
            <a:r>
              <a:rPr sz="900" b="0">
                <a:solidFill>
                  <a:srgbClr val="1B2635"/>
                </a:solidFill>
                <a:latin typeface="Calibri"/>
              </a:rPr>
              <a:t>Manual file loads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74520" y="1773936"/>
            <a:ext cx="1828800" cy="713232"/>
          </a:xfrm>
          <a:prstGeom prst="roundRect">
            <a:avLst>
              <a:gd name="adj" fmla="val 8000"/>
            </a:avLst>
          </a:prstGeom>
          <a:solidFill>
            <a:srgbClr val="9A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8000" rIns="20000" bIns="8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RAW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Landing zone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1773936"/>
            <a:ext cx="1828800" cy="713232"/>
          </a:xfrm>
          <a:prstGeom prst="roundRect">
            <a:avLst>
              <a:gd name="adj" fmla="val 8000"/>
            </a:avLst>
          </a:prstGeom>
          <a:solidFill>
            <a:srgbClr val="9A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8000" rIns="20000" bIns="8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Staging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Cleanse &amp; standardize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1773936"/>
            <a:ext cx="4114800" cy="713232"/>
          </a:xfrm>
          <a:prstGeom prst="rect">
            <a:avLst/>
          </a:prstGeom>
          <a:noFill/>
        </p:spPr>
        <p:txBody>
          <a:bodyPr wrap="square" lIns="10000" tIns="0" rIns="10000" bIns="0" anchor="ctr">
            <a:spAutoFit/>
          </a:bodyPr>
          <a:lstStyle/>
          <a:p>
            <a:pPr algn="l"/>
            <a:r>
              <a:rPr sz="1000" b="1">
                <a:solidFill>
                  <a:srgbClr val="9AA3AD"/>
                </a:solidFill>
                <a:latin typeface="Calibri"/>
              </a:rPr>
              <a:t>⚠  Transitional — RAW &amp; Staging retire once EDM feeds Conformed directly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20" y="2697480"/>
            <a:ext cx="1828800" cy="713232"/>
          </a:xfrm>
          <a:prstGeom prst="roundRect">
            <a:avLst>
              <a:gd name="adj" fmla="val 8000"/>
            </a:avLst>
          </a:prstGeom>
          <a:solidFill>
            <a:srgbClr val="E0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8000" rIns="20000" bIns="8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dbt Models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TRANSFORM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2697480"/>
            <a:ext cx="1828800" cy="713232"/>
          </a:xfrm>
          <a:prstGeom prst="roundRect">
            <a:avLst>
              <a:gd name="adj" fmla="val 8000"/>
            </a:avLst>
          </a:prstGeom>
          <a:solidFill>
            <a:srgbClr val="C03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8000" rIns="20000" bIns="8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SODA / Soda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Data validation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2697480"/>
            <a:ext cx="2377440" cy="713232"/>
          </a:xfrm>
          <a:prstGeom prst="roundRect">
            <a:avLst>
              <a:gd name="adj" fmla="val 8000"/>
            </a:avLst>
          </a:prstGeom>
          <a:solidFill>
            <a:srgbClr val="0E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8000" rIns="20000" bIns="8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Conformed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Business entities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2697480"/>
            <a:ext cx="1463040" cy="713232"/>
          </a:xfrm>
          <a:prstGeom prst="roundRect">
            <a:avLst>
              <a:gd name="adj" fmla="val 8000"/>
            </a:avLst>
          </a:prstGeom>
          <a:solidFill>
            <a:srgbClr val="7C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8000" rIns="20000" bIns="8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Reporting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Aggregated metrics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74520" y="3621024"/>
            <a:ext cx="1828800" cy="603504"/>
          </a:xfrm>
          <a:prstGeom prst="roundRect">
            <a:avLst>
              <a:gd name="adj" fmla="val 8000"/>
            </a:avLst>
          </a:prstGeom>
          <a:solidFill>
            <a:srgbClr val="7C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8000" rIns="20000" bIns="8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Offset / Elim Engine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67912" y="3621024"/>
            <a:ext cx="1828800" cy="603504"/>
          </a:xfrm>
          <a:prstGeom prst="roundRect">
            <a:avLst>
              <a:gd name="adj" fmla="val 8000"/>
            </a:avLst>
          </a:prstGeom>
          <a:solidFill>
            <a:srgbClr val="7C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8000" rIns="20000" bIns="8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Bulk Update Engine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61304" y="3621024"/>
            <a:ext cx="1828800" cy="603504"/>
          </a:xfrm>
          <a:prstGeom prst="roundRect">
            <a:avLst>
              <a:gd name="adj" fmla="val 8000"/>
            </a:avLst>
          </a:prstGeom>
          <a:solidFill>
            <a:srgbClr val="7C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8000" rIns="20000" bIns="8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Locking Snapshot Engine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54696" y="3621024"/>
            <a:ext cx="1828800" cy="603504"/>
          </a:xfrm>
          <a:prstGeom prst="roundRect">
            <a:avLst>
              <a:gd name="adj" fmla="val 8000"/>
            </a:avLst>
          </a:prstGeom>
          <a:solidFill>
            <a:srgbClr val="7C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8000" rIns="20000" bIns="8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Override Engine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20" y="4352544"/>
            <a:ext cx="1828800" cy="603504"/>
          </a:xfrm>
          <a:prstGeom prst="roundRect">
            <a:avLst>
              <a:gd name="adj" fmla="val 8000"/>
            </a:avLst>
          </a:prstGeom>
          <a:solidFill>
            <a:srgbClr val="7C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8000" rIns="20000" bIns="8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Feedback Process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67912" y="4352544"/>
            <a:ext cx="1828800" cy="603504"/>
          </a:xfrm>
          <a:prstGeom prst="roundRect">
            <a:avLst>
              <a:gd name="adj" fmla="val 8000"/>
            </a:avLst>
          </a:prstGeom>
          <a:solidFill>
            <a:srgbClr val="7C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8000" rIns="20000" bIns="8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Recon Tool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61304" y="4352544"/>
            <a:ext cx="1828800" cy="603504"/>
          </a:xfrm>
          <a:prstGeom prst="roundRect">
            <a:avLst>
              <a:gd name="adj" fmla="val 8000"/>
            </a:avLst>
          </a:prstGeom>
          <a:solidFill>
            <a:srgbClr val="7C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8000" rIns="20000" bIns="8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Pre-Processor Review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54696" y="4352544"/>
            <a:ext cx="1828800" cy="603504"/>
          </a:xfrm>
          <a:prstGeom prst="roundRect">
            <a:avLst>
              <a:gd name="adj" fmla="val 8000"/>
            </a:avLst>
          </a:prstGeom>
          <a:solidFill>
            <a:srgbClr val="7C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8000" rIns="20000" bIns="8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Mapping / Dimension Std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74520" y="5303520"/>
            <a:ext cx="2011680" cy="365760"/>
          </a:xfrm>
          <a:prstGeom prst="roundRect">
            <a:avLst>
              <a:gd name="adj" fmla="val 8000"/>
            </a:avLst>
          </a:prstGeom>
          <a:solidFill>
            <a:srgbClr val="0E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8000" rIns="20000" bIns="8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Conformed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5303520"/>
            <a:ext cx="1463040" cy="365760"/>
          </a:xfrm>
          <a:prstGeom prst="rect">
            <a:avLst/>
          </a:prstGeom>
          <a:noFill/>
        </p:spPr>
        <p:txBody>
          <a:bodyPr wrap="square" lIns="10000" tIns="0" rIns="10000" bIns="0" anchor="ctr">
            <a:spAutoFit/>
          </a:bodyPr>
          <a:lstStyle/>
          <a:p>
            <a:pPr algn="l"/>
            <a:r>
              <a:rPr sz="900" b="0">
                <a:solidFill>
                  <a:srgbClr val="1B2635"/>
                </a:solidFill>
                <a:latin typeface="Calibri"/>
              </a:rPr>
              <a:t>Business data layer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20" y="5724144"/>
            <a:ext cx="2011680" cy="365760"/>
          </a:xfrm>
          <a:prstGeom prst="roundRect">
            <a:avLst>
              <a:gd name="adj" fmla="val 8000"/>
            </a:avLst>
          </a:prstGeom>
          <a:solidFill>
            <a:srgbClr val="128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8000" rIns="20000" bIns="8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FastAPI (Python)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7639" y="5724144"/>
            <a:ext cx="1463040" cy="365760"/>
          </a:xfrm>
          <a:prstGeom prst="rect">
            <a:avLst/>
          </a:prstGeom>
          <a:noFill/>
        </p:spPr>
        <p:txBody>
          <a:bodyPr wrap="square" lIns="10000" tIns="0" rIns="10000" bIns="0" anchor="ctr">
            <a:spAutoFit/>
          </a:bodyPr>
          <a:lstStyle/>
          <a:p>
            <a:pPr algn="l"/>
            <a:r>
              <a:rPr sz="900" b="0">
                <a:solidFill>
                  <a:srgbClr val="1B2635"/>
                </a:solidFill>
                <a:latin typeface="Calibri"/>
              </a:rPr>
              <a:t>Core API service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74520" y="6144768"/>
            <a:ext cx="2011680" cy="365760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8000" rIns="20000" bIns="8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React 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39" y="6144768"/>
            <a:ext cx="1463040" cy="365760"/>
          </a:xfrm>
          <a:prstGeom prst="rect">
            <a:avLst/>
          </a:prstGeom>
          <a:noFill/>
        </p:spPr>
        <p:txBody>
          <a:bodyPr wrap="square" lIns="10000" tIns="0" rIns="10000" bIns="0" anchor="ctr">
            <a:spAutoFit/>
          </a:bodyPr>
          <a:lstStyle/>
          <a:p>
            <a:pPr algn="l"/>
            <a:r>
              <a:rPr sz="900" b="0">
                <a:solidFill>
                  <a:srgbClr val="1B2635"/>
                </a:solidFill>
                <a:latin typeface="Calibri"/>
              </a:rPr>
              <a:t>User interface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22976" y="5440680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128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8000" rIns="20000" bIns="8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Snapshot Service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Python · consumes Reporting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00416" y="5440680"/>
            <a:ext cx="1828800" cy="566928"/>
          </a:xfrm>
          <a:prstGeom prst="roundRect">
            <a:avLst>
              <a:gd name="adj" fmla="val 8000"/>
            </a:avLst>
          </a:prstGeom>
          <a:solidFill>
            <a:srgbClr val="13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8000" rIns="20000" bIns="8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Vantage IQ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Analytics products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717536" y="5724144"/>
            <a:ext cx="182880" cy="0"/>
          </a:xfrm>
          <a:prstGeom prst="bentConnector3">
            <a:avLst/>
          </a:prstGeom>
          <a:ln w="19050">
            <a:solidFill>
              <a:srgbClr val="13365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0408615" y="777240"/>
            <a:ext cx="1627632" cy="2743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8000" rIns="20000" bIns="8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LEGEND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408615" y="1143000"/>
            <a:ext cx="237744" cy="18288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701223" y="1106424"/>
            <a:ext cx="1371600" cy="256032"/>
          </a:xfrm>
          <a:prstGeom prst="rect">
            <a:avLst/>
          </a:prstGeom>
          <a:noFill/>
        </p:spPr>
        <p:txBody>
          <a:bodyPr wrap="square" lIns="10000" tIns="0" rIns="10000" bIns="0" anchor="ctr">
            <a:spAutoFit/>
          </a:bodyPr>
          <a:lstStyle/>
          <a:p>
            <a:pPr algn="l"/>
            <a:r>
              <a:rPr sz="850" b="0">
                <a:solidFill>
                  <a:srgbClr val="1B2635"/>
                </a:solidFill>
                <a:latin typeface="Calibri"/>
              </a:rPr>
              <a:t>Snowflake Schema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408615" y="1417320"/>
            <a:ext cx="237744" cy="182880"/>
          </a:xfrm>
          <a:prstGeom prst="rect">
            <a:avLst/>
          </a:prstGeom>
          <a:solidFill>
            <a:srgbClr val="0E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701223" y="1380744"/>
            <a:ext cx="1371600" cy="256032"/>
          </a:xfrm>
          <a:prstGeom prst="rect">
            <a:avLst/>
          </a:prstGeom>
          <a:noFill/>
        </p:spPr>
        <p:txBody>
          <a:bodyPr wrap="square" lIns="10000" tIns="0" rIns="10000" bIns="0" anchor="ctr">
            <a:spAutoFit/>
          </a:bodyPr>
          <a:lstStyle/>
          <a:p>
            <a:pPr algn="l"/>
            <a:r>
              <a:rPr sz="850" b="0">
                <a:solidFill>
                  <a:srgbClr val="1B2635"/>
                </a:solidFill>
                <a:latin typeface="Calibri"/>
              </a:rPr>
              <a:t>EDM Source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408615" y="1691640"/>
            <a:ext cx="237744" cy="182880"/>
          </a:xfrm>
          <a:prstGeom prst="rect">
            <a:avLst/>
          </a:prstGeom>
          <a:solidFill>
            <a:srgbClr val="E0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701223" y="1655064"/>
            <a:ext cx="1371600" cy="256032"/>
          </a:xfrm>
          <a:prstGeom prst="rect">
            <a:avLst/>
          </a:prstGeom>
          <a:noFill/>
        </p:spPr>
        <p:txBody>
          <a:bodyPr wrap="square" lIns="10000" tIns="0" rIns="10000" bIns="0" anchor="ctr">
            <a:spAutoFit/>
          </a:bodyPr>
          <a:lstStyle/>
          <a:p>
            <a:pPr algn="l"/>
            <a:r>
              <a:rPr sz="850" b="0">
                <a:solidFill>
                  <a:srgbClr val="1B2635"/>
                </a:solidFill>
                <a:latin typeface="Calibri"/>
              </a:rPr>
              <a:t>dbt Transform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408615" y="1965960"/>
            <a:ext cx="237744" cy="182880"/>
          </a:xfrm>
          <a:prstGeom prst="rect">
            <a:avLst/>
          </a:prstGeom>
          <a:solidFill>
            <a:srgbClr val="C03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701223" y="1929384"/>
            <a:ext cx="1371600" cy="256032"/>
          </a:xfrm>
          <a:prstGeom prst="rect">
            <a:avLst/>
          </a:prstGeom>
          <a:noFill/>
        </p:spPr>
        <p:txBody>
          <a:bodyPr wrap="square" lIns="10000" tIns="0" rIns="10000" bIns="0" anchor="ctr">
            <a:spAutoFit/>
          </a:bodyPr>
          <a:lstStyle/>
          <a:p>
            <a:pPr algn="l"/>
            <a:r>
              <a:rPr sz="850" b="0">
                <a:solidFill>
                  <a:srgbClr val="1B2635"/>
                </a:solidFill>
                <a:latin typeface="Calibri"/>
              </a:rPr>
              <a:t>SODA Validation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408615" y="2240279"/>
            <a:ext cx="237744" cy="182880"/>
          </a:xfrm>
          <a:prstGeom prst="rect">
            <a:avLst/>
          </a:prstGeom>
          <a:solidFill>
            <a:srgbClr val="E7B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701223" y="2203703"/>
            <a:ext cx="1371600" cy="256032"/>
          </a:xfrm>
          <a:prstGeom prst="rect">
            <a:avLst/>
          </a:prstGeom>
          <a:noFill/>
        </p:spPr>
        <p:txBody>
          <a:bodyPr wrap="square" lIns="10000" tIns="0" rIns="10000" bIns="0" anchor="ctr">
            <a:spAutoFit/>
          </a:bodyPr>
          <a:lstStyle/>
          <a:p>
            <a:pPr algn="l"/>
            <a:r>
              <a:rPr sz="850" b="0">
                <a:solidFill>
                  <a:srgbClr val="1B2635"/>
                </a:solidFill>
                <a:latin typeface="Calibri"/>
              </a:rPr>
              <a:t>Manual File Load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08615" y="2514599"/>
            <a:ext cx="237744" cy="182880"/>
          </a:xfrm>
          <a:prstGeom prst="rect">
            <a:avLst/>
          </a:prstGeom>
          <a:solidFill>
            <a:srgbClr val="128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701223" y="2478023"/>
            <a:ext cx="1371600" cy="256032"/>
          </a:xfrm>
          <a:prstGeom prst="rect">
            <a:avLst/>
          </a:prstGeom>
          <a:noFill/>
        </p:spPr>
        <p:txBody>
          <a:bodyPr wrap="square" lIns="10000" tIns="0" rIns="10000" bIns="0" anchor="ctr">
            <a:spAutoFit/>
          </a:bodyPr>
          <a:lstStyle/>
          <a:p>
            <a:pPr algn="l"/>
            <a:r>
              <a:rPr sz="850" b="0">
                <a:solidFill>
                  <a:srgbClr val="1B2635"/>
                </a:solidFill>
                <a:latin typeface="Calibri"/>
              </a:rPr>
              <a:t>FastAPI / Service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408615" y="2788919"/>
            <a:ext cx="237744" cy="182880"/>
          </a:xfrm>
          <a:prstGeom prst="rect">
            <a:avLst/>
          </a:prstGeom>
          <a:solidFill>
            <a:srgbClr val="7C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701223" y="2752343"/>
            <a:ext cx="1371600" cy="256032"/>
          </a:xfrm>
          <a:prstGeom prst="rect">
            <a:avLst/>
          </a:prstGeom>
          <a:noFill/>
        </p:spPr>
        <p:txBody>
          <a:bodyPr wrap="square" lIns="10000" tIns="0" rIns="10000" bIns="0" anchor="ctr">
            <a:spAutoFit/>
          </a:bodyPr>
          <a:lstStyle/>
          <a:p>
            <a:pPr algn="l"/>
            <a:r>
              <a:rPr sz="850" b="0">
                <a:solidFill>
                  <a:srgbClr val="1B2635"/>
                </a:solidFill>
                <a:latin typeface="Calibri"/>
              </a:rPr>
              <a:t>Engines (micro)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408615" y="3063239"/>
            <a:ext cx="237744" cy="182880"/>
          </a:xfrm>
          <a:prstGeom prst="rect">
            <a:avLst/>
          </a:prstGeom>
          <a:solidFill>
            <a:srgbClr val="9A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701223" y="3026663"/>
            <a:ext cx="1371600" cy="256032"/>
          </a:xfrm>
          <a:prstGeom prst="rect">
            <a:avLst/>
          </a:prstGeom>
          <a:noFill/>
        </p:spPr>
        <p:txBody>
          <a:bodyPr wrap="square" lIns="10000" tIns="0" rIns="10000" bIns="0" anchor="ctr">
            <a:spAutoFit/>
          </a:bodyPr>
          <a:lstStyle/>
          <a:p>
            <a:pPr algn="l"/>
            <a:r>
              <a:rPr sz="850" b="0">
                <a:solidFill>
                  <a:srgbClr val="1B2635"/>
                </a:solidFill>
                <a:latin typeface="Calibri"/>
              </a:rPr>
              <a:t>To be removed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8000" rIns="20000" bIns="80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Flow:  Sources / EDM → RAW · Staging → dbt + SODA → Conformed → Reporting → Snapshot (Python) → Vantage IQ     ·     Served:  Conformed → FastAPI → React 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173</Words>
  <Application>Microsoft Office PowerPoint</Application>
  <PresentationFormat>Widescreen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Mandhala</cp:lastModifiedBy>
  <cp:revision>2</cp:revision>
  <dcterms:created xsi:type="dcterms:W3CDTF">2013-01-27T09:14:16Z</dcterms:created>
  <dcterms:modified xsi:type="dcterms:W3CDTF">2026-06-01T17:42:13Z</dcterms:modified>
  <cp:category/>
</cp:coreProperties>
</file>