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7" autoAdjust="0"/>
    <p:restoredTop sz="88045" autoAdjust="0"/>
  </p:normalViewPr>
  <p:slideViewPr>
    <p:cSldViewPr snapToGrid="0" snapToObjects="1">
      <p:cViewPr>
        <p:scale>
          <a:sx n="100" d="100"/>
          <a:sy n="100" d="100"/>
        </p:scale>
        <p:origin x="76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35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B6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• 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myFinance to OneSDMUI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&amp; Shift Modernization Architecture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97280" cy="54864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a monolithic C# Web API to a containerized FastAPI services platform on OpenShift — reusing the nbFinance SQL Server database to de-risk delivery and accelerate time-to-value.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6873" y="53949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13325C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9753" y="5468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9753" y="5760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&amp; Shift  +  Reuse SQL Server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05913" y="53949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13325C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88793" y="5468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8793" y="5760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• FastAPI • React UI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FB6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3192" y="0"/>
            <a:ext cx="117957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vs. Future State Architecture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monolithic C# Web API to containerized FastAPI services on OpenShift — same data, modern platform.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myFinance → OneSDMUI  |  Lift &amp; Shift Modernization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188720"/>
            <a:ext cx="521208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18872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8A3D3D"/>
          </a:solidFill>
          <a:ln w="12700">
            <a:solidFill>
              <a:srgbClr val="8A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1508760"/>
            <a:ext cx="5212080" cy="182880"/>
          </a:xfrm>
          <a:prstGeom prst="rect">
            <a:avLst/>
          </a:prstGeom>
          <a:solidFill>
            <a:srgbClr val="8A3D3D"/>
          </a:solidFill>
          <a:ln w="12700">
            <a:solidFill>
              <a:srgbClr val="8A3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12070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LEGACY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18745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FBF1F1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8680" y="1874520"/>
            <a:ext cx="73152" cy="3840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18745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Legacy UI (myFinance)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23317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FBF1F1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2331720"/>
            <a:ext cx="73152" cy="3840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2331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Web API (Monolith on IIS)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27889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FBF1F1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2788920"/>
            <a:ext cx="73152" cy="3840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2788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 • Manual Deploys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32461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FBF1F1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8680" y="3246120"/>
            <a:ext cx="73152" cy="3840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3246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nbFinance SQL Server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37033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FBF1F1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68680" y="3703320"/>
            <a:ext cx="73152" cy="38404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" y="3703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 Integration (Existing)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release cycles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983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 horizontally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5394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observability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5806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8720" y="5806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infra &amp; licensing cost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55080" y="1188720"/>
            <a:ext cx="5212080" cy="5212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55080" y="118872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0E8E8E"/>
          </a:solidFill>
          <a:ln w="12700">
            <a:solidFill>
              <a:srgbClr val="0E8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55080" y="1508760"/>
            <a:ext cx="5212080" cy="182880"/>
          </a:xfrm>
          <a:prstGeom prst="rect">
            <a:avLst/>
          </a:prstGeom>
          <a:solidFill>
            <a:srgbClr val="0E8E8E"/>
          </a:solidFill>
          <a:ln w="12700">
            <a:solidFill>
              <a:srgbClr val="0E8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37960" y="12070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— ONESDMUI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83680" y="18745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EAF7F7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583680" y="1874520"/>
            <a:ext cx="73152" cy="384048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0" y="18745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(OneSDMUI)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23317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EAF7F7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583680" y="2331720"/>
            <a:ext cx="73152" cy="384048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66560" y="2331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Services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583680" y="27889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EAF7F7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583680" y="2788920"/>
            <a:ext cx="73152" cy="384048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66560" y="27889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• Containers • Auto-Scale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83680" y="32461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EAF7F7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583680" y="3246120"/>
            <a:ext cx="73152" cy="384048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766560" y="3246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nbFinance SQL Server (Reused)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583680" y="3703320"/>
            <a:ext cx="4754880" cy="384048"/>
          </a:xfrm>
          <a:prstGeom prst="roundRect">
            <a:avLst>
              <a:gd name="adj" fmla="val 14286"/>
            </a:avLst>
          </a:prstGeom>
          <a:solidFill>
            <a:srgbClr val="EAF7F7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83680" y="3703320"/>
            <a:ext cx="73152" cy="384048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766560" y="3703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 Integration (Preserved)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8368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29400" y="4572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037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CI/CD releases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29400" y="4983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03720" y="4983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horizontal scaling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629400" y="5394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90372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monitoring &amp; logs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629400" y="5806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03720" y="5806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TCO, cloud-native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FB6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3192" y="0"/>
            <a:ext cx="117957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Architecture, Technology Stack &amp; Deployment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cloud-native architecture with CI/CD, auto-scaling pods, and reused enterprise data — engineered for resilience and speed.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myFinance → OneSDMUI  |  Lift &amp; Shift Modernization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TECHNOLOGY 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1508760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1508760"/>
            <a:ext cx="91440" cy="621792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150876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50876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OneSDMUI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221992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2221992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2A7DE1"/>
          </a:solidFill>
          <a:ln w="12700">
            <a:solidFill>
              <a:srgbClr val="2A7D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103120" y="2221992"/>
            <a:ext cx="91440" cy="621792"/>
          </a:xfrm>
          <a:prstGeom prst="rect">
            <a:avLst/>
          </a:prstGeom>
          <a:solidFill>
            <a:srgbClr val="2A7DE1"/>
          </a:solidFill>
          <a:ln w="12700">
            <a:solidFill>
              <a:srgbClr val="2A7D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22199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SERVICES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222199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• REST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935224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2935224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6F4DE0"/>
          </a:solidFill>
          <a:ln w="12700">
            <a:solidFill>
              <a:srgbClr val="6F4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03120" y="2935224"/>
            <a:ext cx="91440" cy="621792"/>
          </a:xfrm>
          <a:prstGeom prst="rect">
            <a:avLst/>
          </a:prstGeom>
          <a:solidFill>
            <a:srgbClr val="6F4DE0"/>
          </a:solidFill>
          <a:ln w="12700">
            <a:solidFill>
              <a:srgbClr val="6F4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293522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293522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• Containers • Pods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648456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3648456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03120" y="3648456"/>
            <a:ext cx="91440" cy="62179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364845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64845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nbFinance SQL Server (Reused)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361688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" y="4361688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D8852B"/>
          </a:solidFill>
          <a:ln w="12700">
            <a:solidFill>
              <a:srgbClr val="D88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103120" y="4361688"/>
            <a:ext cx="91440" cy="621792"/>
          </a:xfrm>
          <a:prstGeom prst="rect">
            <a:avLst/>
          </a:prstGeom>
          <a:solidFill>
            <a:srgbClr val="D8852B"/>
          </a:solidFill>
          <a:ln w="12700">
            <a:solidFill>
              <a:srgbClr val="D88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" y="436168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0" y="43616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 • Enterprise Services (Preserved &amp; Reused)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507492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" y="5074920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4A9D5C"/>
          </a:solidFill>
          <a:ln w="12700">
            <a:solidFill>
              <a:srgbClr val="4A9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103120" y="5074920"/>
            <a:ext cx="91440" cy="621792"/>
          </a:xfrm>
          <a:prstGeom prst="rect">
            <a:avLst/>
          </a:prstGeom>
          <a:solidFill>
            <a:srgbClr val="4A9D5C"/>
          </a:solidFill>
          <a:ln w="12700">
            <a:solidFill>
              <a:srgbClr val="4A9D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507492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86000" y="507492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• Metrics • Alerts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63640" y="11430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CI/CD PIPELINE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1554480"/>
            <a:ext cx="1042416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63640" y="1554480"/>
            <a:ext cx="1042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06056" y="1801368"/>
            <a:ext cx="91440" cy="54864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397496" y="1554480"/>
            <a:ext cx="1042416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97496" y="1554480"/>
            <a:ext cx="1042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39912" y="1801368"/>
            <a:ext cx="91440" cy="54864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531352" y="1554480"/>
            <a:ext cx="1042416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31352" y="1554480"/>
            <a:ext cx="1042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573768" y="1801368"/>
            <a:ext cx="91440" cy="54864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665208" y="1554480"/>
            <a:ext cx="1042416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665208" y="1554480"/>
            <a:ext cx="1042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707624" y="1801368"/>
            <a:ext cx="91440" cy="54864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799064" y="1554480"/>
            <a:ext cx="1042416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799064" y="1554480"/>
            <a:ext cx="1042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233172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F4F7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0080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Cluster — Auto-Scaling Pods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400800" y="2788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00800" y="2834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400800" y="3200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00800" y="34290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72400" y="2788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772400" y="2834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7772400" y="3200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772400" y="34290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44000" y="2788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144000" y="2834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9144000" y="3200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3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144000" y="34290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515600" y="2788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515600" y="28346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0515600" y="3200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0515600" y="34290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40080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  •  Rolling Updates  •  Self-Healing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40080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 nbFinance SQL Server (Reused — Zero Data Migration)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263640" y="4709160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4008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400800" y="5120640"/>
            <a:ext cx="1234440" cy="1188720"/>
          </a:xfrm>
          <a:prstGeom prst="roundRect">
            <a:avLst>
              <a:gd name="adj" fmla="val 4615"/>
            </a:avLst>
          </a:prstGeom>
          <a:solidFill>
            <a:srgbClr val="13325C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400800" y="5212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6446520" y="5623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772400" y="5120640"/>
            <a:ext cx="1234440" cy="1188720"/>
          </a:xfrm>
          <a:prstGeom prst="roundRect">
            <a:avLst>
              <a:gd name="adj" fmla="val 4615"/>
            </a:avLst>
          </a:prstGeom>
          <a:solidFill>
            <a:srgbClr val="13325C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772400" y="5212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818120" y="5623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integration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144000" y="5120640"/>
            <a:ext cx="1234440" cy="1188720"/>
          </a:xfrm>
          <a:prstGeom prst="roundRect">
            <a:avLst>
              <a:gd name="adj" fmla="val 4615"/>
            </a:avLst>
          </a:prstGeom>
          <a:solidFill>
            <a:srgbClr val="13325C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144000" y="5212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9189720" y="5623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parity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515600" y="5120640"/>
            <a:ext cx="1234440" cy="1188720"/>
          </a:xfrm>
          <a:prstGeom prst="roundRect">
            <a:avLst>
              <a:gd name="adj" fmla="val 4615"/>
            </a:avLst>
          </a:prstGeom>
          <a:solidFill>
            <a:srgbClr val="13325C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0515600" y="5212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10561320" y="5623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FB6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3192" y="0"/>
            <a:ext cx="117957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Benefits &amp; Glossary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toward OneSDMUI — measurable outcomes with minimal disruption.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myFinance → OneSDMUI  |  Lift &amp; Shift Modernization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ROADMAP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1508760"/>
            <a:ext cx="2084832" cy="411480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1783080"/>
            <a:ext cx="2084832" cy="137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5087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3317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inventory &amp; dependencies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62072" y="1508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62072" y="1508760"/>
            <a:ext cx="2084832" cy="411480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62072" y="1783080"/>
            <a:ext cx="2084832" cy="137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62072" y="15087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62072" y="2011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53512" y="23317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services + containerize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84064" y="1508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84064" y="1508760"/>
            <a:ext cx="2084832" cy="411480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84064" y="1783080"/>
            <a:ext cx="2084832" cy="137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84064" y="15087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84064" y="2011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75504" y="23317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API parity testing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06056" y="1508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06056" y="1508760"/>
            <a:ext cx="2084832" cy="411480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06056" y="1783080"/>
            <a:ext cx="2084832" cy="137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06056" y="15087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06056" y="2011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97496" y="23317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rollout (blue/green)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528048" y="1508760"/>
            <a:ext cx="20848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28048" y="1508760"/>
            <a:ext cx="2084832" cy="411480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28048" y="1783080"/>
            <a:ext cx="2084832" cy="137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528048" y="150876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528048" y="201168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19488" y="2331720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monitor, decommission legacy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3108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OUTCOMES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3474720"/>
            <a:ext cx="2084832" cy="109728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0080" y="3474720"/>
            <a:ext cx="2084832" cy="73152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" y="35661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40080" y="4160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862072" y="3474720"/>
            <a:ext cx="2084832" cy="109728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862072" y="3474720"/>
            <a:ext cx="2084832" cy="73152"/>
          </a:xfrm>
          <a:prstGeom prst="rect">
            <a:avLst/>
          </a:prstGeom>
          <a:solidFill>
            <a:srgbClr val="0E8E8E"/>
          </a:solidFill>
          <a:ln w="12700">
            <a:solidFill>
              <a:srgbClr val="0E8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862072" y="35661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↓40%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2862072" y="4160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84064" y="3474720"/>
            <a:ext cx="2084832" cy="109728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84064" y="3474720"/>
            <a:ext cx="2084832" cy="73152"/>
          </a:xfrm>
          <a:prstGeom prst="rect">
            <a:avLst/>
          </a:prstGeom>
          <a:solidFill>
            <a:srgbClr val="2A7DE1"/>
          </a:solidFill>
          <a:ln w="12700">
            <a:solidFill>
              <a:srgbClr val="2A7D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84064" y="35661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7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↑5x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5084064" y="4160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06056" y="3474720"/>
            <a:ext cx="2084832" cy="109728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306056" y="3474720"/>
            <a:ext cx="2084832" cy="73152"/>
          </a:xfrm>
          <a:prstGeom prst="rect">
            <a:avLst/>
          </a:prstGeom>
          <a:solidFill>
            <a:srgbClr val="6F4DE0"/>
          </a:solidFill>
          <a:ln w="12700">
            <a:solidFill>
              <a:srgbClr val="6F4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306056" y="35661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F4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7306056" y="4160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528048" y="3474720"/>
            <a:ext cx="2084832" cy="109728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528048" y="3474720"/>
            <a:ext cx="2084832" cy="73152"/>
          </a:xfrm>
          <a:prstGeom prst="rect">
            <a:avLst/>
          </a:prstGeom>
          <a:solidFill>
            <a:srgbClr val="D8852B"/>
          </a:solidFill>
          <a:ln w="12700">
            <a:solidFill>
              <a:srgbClr val="D88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528048" y="356616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8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9528048" y="41605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40080" y="4754880"/>
            <a:ext cx="6858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22960" y="4800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22960" y="5074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057400" y="50749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Enterprise Services — shared integration layer.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22960" y="53400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057400" y="53400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Python web framework for APIs.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22960" y="5605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057400" y="56052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Kubernetes container platform.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22960" y="58704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057400" y="587044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relational database (nbFinance source).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960" y="6135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057400" y="613562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that existing functionality is preserved.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635240" y="475488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635240" y="4754880"/>
            <a:ext cx="3977640" cy="73152"/>
          </a:xfrm>
          <a:prstGeom prst="rect">
            <a:avLst/>
          </a:prstGeom>
          <a:solidFill>
            <a:srgbClr val="1FB6B6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772400" y="4846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OneSDMUI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772400" y="5212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7772400" y="5669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discussion &amp; Q&amp;A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772400" y="598932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13325C"/>
          </a:solidFill>
          <a:ln w="12700">
            <a:solidFill>
              <a:srgbClr val="1FB6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772400" y="5989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Discussion Placeholder 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488</Words>
  <Application>Microsoft Office PowerPoint</Application>
  <PresentationFormat>Widescreen</PresentationFormat>
  <Paragraphs>139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myFinance to OneSDMUI – Lift &amp; Shift Modernization</dc:title>
  <dc:subject>PptxGenJS Presentation</dc:subject>
  <dc:creator>PptxGenJS</dc:creator>
  <cp:lastModifiedBy>Sai Mandhala</cp:lastModifiedBy>
  <cp:revision>2</cp:revision>
  <dcterms:created xsi:type="dcterms:W3CDTF">2026-05-18T18:39:09Z</dcterms:created>
  <dcterms:modified xsi:type="dcterms:W3CDTF">2026-05-18T18:48:46Z</dcterms:modified>
</cp:coreProperties>
</file>